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778240" y="-1280160"/>
            <a:ext cx="5120640" cy="5120640"/>
          </a:xfrm>
          <a:prstGeom prst="ellipse">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4389120"/>
            <a:ext cx="3108960" cy="3108960"/>
          </a:xfrm>
          <a:prstGeom prst="ellipse">
            <a:avLst/>
          </a:prstGeom>
          <a:solidFill>
            <a:srgbClr val="14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777240"/>
            <a:ext cx="9144000" cy="365760"/>
          </a:xfrm>
          <a:prstGeom prst="rect">
            <a:avLst/>
          </a:prstGeom>
          <a:noFill/>
        </p:spPr>
        <p:txBody>
          <a:bodyPr wrap="square" lIns="0" rIns="0" tIns="0" bIns="0" anchor="t"/>
          <a:lstStyle/>
          <a:p>
            <a:pPr algn="l"/>
            <a:r>
              <a:rPr sz="1200" b="1" i="0">
                <a:solidFill>
                  <a:srgbClr val="8C9BAB"/>
                </a:solidFill>
                <a:latin typeface="Segoe UI"/>
              </a:rPr>
              <a:t>DEPARTMENT OF COMPUTER ENGINEERING  ·  MAJOR PROJECT SYNOPSIS</a:t>
            </a:r>
          </a:p>
        </p:txBody>
      </p:sp>
      <p:sp>
        <p:nvSpPr>
          <p:cNvPr id="7" name="TextBox 6"/>
          <p:cNvSpPr txBox="1"/>
          <p:nvPr/>
        </p:nvSpPr>
        <p:spPr>
          <a:xfrm>
            <a:off x="822960" y="1371600"/>
            <a:ext cx="9144000" cy="1097280"/>
          </a:xfrm>
          <a:prstGeom prst="rect">
            <a:avLst/>
          </a:prstGeom>
          <a:noFill/>
        </p:spPr>
        <p:txBody>
          <a:bodyPr wrap="square" lIns="0" rIns="0" tIns="0" bIns="0" anchor="t"/>
          <a:lstStyle/>
          <a:p>
            <a:pPr algn="l"/>
            <a:r>
              <a:rPr sz="5600" b="1" i="0">
                <a:solidFill>
                  <a:srgbClr val="FFFFFF"/>
                </a:solidFill>
                <a:latin typeface="Segoe UI"/>
              </a:rPr>
              <a:t>PROMPTBREAKER AI</a:t>
            </a:r>
          </a:p>
        </p:txBody>
      </p:sp>
      <p:sp>
        <p:nvSpPr>
          <p:cNvPr id="8" name="Rectangle 7"/>
          <p:cNvSpPr/>
          <p:nvPr/>
        </p:nvSpPr>
        <p:spPr>
          <a:xfrm>
            <a:off x="868680" y="2359152"/>
            <a:ext cx="1463040" cy="54864"/>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06040"/>
            <a:ext cx="10241280" cy="914400"/>
          </a:xfrm>
          <a:prstGeom prst="rect">
            <a:avLst/>
          </a:prstGeom>
          <a:noFill/>
        </p:spPr>
        <p:txBody>
          <a:bodyPr wrap="square" lIns="0" rIns="0" tIns="0" bIns="0" anchor="t"/>
          <a:lstStyle/>
          <a:p>
            <a:pPr algn="l"/>
            <a:r>
              <a:rPr sz="2100" b="1" i="0">
                <a:solidFill>
                  <a:srgbClr val="2EB872"/>
                </a:solidFill>
                <a:latin typeface="Segoe UI"/>
              </a:rPr>
              <a:t>Adversarial Security Assessment Engine for</a:t>
            </a:r>
          </a:p>
          <a:p>
            <a:pPr algn="l"/>
            <a:r>
              <a:rPr sz="2100" b="1" i="0">
                <a:solidFill>
                  <a:srgbClr val="2EB872"/>
                </a:solidFill>
                <a:latin typeface="Segoe UI"/>
              </a:rPr>
              <a:t>Large Language Models</a:t>
            </a:r>
          </a:p>
        </p:txBody>
      </p:sp>
      <p:sp>
        <p:nvSpPr>
          <p:cNvPr id="10" name="TextBox 9"/>
          <p:cNvSpPr txBox="1"/>
          <p:nvPr/>
        </p:nvSpPr>
        <p:spPr>
          <a:xfrm>
            <a:off x="822960" y="3657600"/>
            <a:ext cx="9692640" cy="822960"/>
          </a:xfrm>
          <a:prstGeom prst="rect">
            <a:avLst/>
          </a:prstGeom>
          <a:noFill/>
        </p:spPr>
        <p:txBody>
          <a:bodyPr wrap="square" lIns="0" rIns="0" tIns="0" bIns="0" anchor="t"/>
          <a:lstStyle/>
          <a:p>
            <a:pPr algn="l"/>
            <a:r>
              <a:rPr sz="1350" b="0" i="0">
                <a:solidFill>
                  <a:srgbClr val="B9C6D4"/>
                </a:solidFill>
                <a:latin typeface="Segoe UI"/>
              </a:rPr>
              <a:t>Authorized testing only — no run starts without a machine-enforced scope attestation.</a:t>
            </a:r>
          </a:p>
          <a:p>
            <a:pPr algn="l"/>
            <a:r>
              <a:rPr sz="1350" b="0" i="0">
                <a:solidFill>
                  <a:srgbClr val="B9C6D4"/>
                </a:solidFill>
                <a:latin typeface="Segoe UI"/>
              </a:rPr>
              <a:t>A verdict counts only when it quotes the target’s own response verbatim: the verbatim-quote gate.</a:t>
            </a:r>
          </a:p>
        </p:txBody>
      </p:sp>
      <p:sp>
        <p:nvSpPr>
          <p:cNvPr id="11" name="Rounded Rectangle 10"/>
          <p:cNvSpPr/>
          <p:nvPr/>
        </p:nvSpPr>
        <p:spPr>
          <a:xfrm>
            <a:off x="822960"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937759"/>
            <a:ext cx="1481328" cy="365760"/>
          </a:xfrm>
          <a:prstGeom prst="rect">
            <a:avLst/>
          </a:prstGeom>
          <a:noFill/>
        </p:spPr>
        <p:txBody>
          <a:bodyPr wrap="square" lIns="0" rIns="0" tIns="0" bIns="0" anchor="t"/>
          <a:lstStyle/>
          <a:p>
            <a:pPr algn="ctr"/>
            <a:r>
              <a:rPr sz="1900" b="1" i="0">
                <a:solidFill>
                  <a:srgbClr val="2EB872"/>
                </a:solidFill>
                <a:latin typeface="Segoe UI"/>
              </a:rPr>
              <a:t>12</a:t>
            </a:r>
          </a:p>
        </p:txBody>
      </p:sp>
      <p:sp>
        <p:nvSpPr>
          <p:cNvPr id="13" name="TextBox 12"/>
          <p:cNvSpPr txBox="1"/>
          <p:nvPr/>
        </p:nvSpPr>
        <p:spPr>
          <a:xfrm>
            <a:off x="822960" y="5294376"/>
            <a:ext cx="1481328" cy="274320"/>
          </a:xfrm>
          <a:prstGeom prst="rect">
            <a:avLst/>
          </a:prstGeom>
          <a:noFill/>
        </p:spPr>
        <p:txBody>
          <a:bodyPr wrap="square" lIns="0" rIns="0" tIns="0" bIns="0" anchor="t"/>
          <a:lstStyle/>
          <a:p>
            <a:pPr algn="ctr"/>
            <a:r>
              <a:rPr sz="850" b="0" i="0">
                <a:solidFill>
                  <a:srgbClr val="8C9BAB"/>
                </a:solidFill>
                <a:latin typeface="Segoe UI"/>
              </a:rPr>
              <a:t>attack probes</a:t>
            </a:r>
          </a:p>
        </p:txBody>
      </p:sp>
      <p:sp>
        <p:nvSpPr>
          <p:cNvPr id="14" name="Rounded Rectangle 13"/>
          <p:cNvSpPr/>
          <p:nvPr/>
        </p:nvSpPr>
        <p:spPr>
          <a:xfrm>
            <a:off x="2395728"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95728" y="4937759"/>
            <a:ext cx="1481328" cy="365760"/>
          </a:xfrm>
          <a:prstGeom prst="rect">
            <a:avLst/>
          </a:prstGeom>
          <a:noFill/>
        </p:spPr>
        <p:txBody>
          <a:bodyPr wrap="square" lIns="0" rIns="0" tIns="0" bIns="0" anchor="t"/>
          <a:lstStyle/>
          <a:p>
            <a:pPr algn="ctr"/>
            <a:r>
              <a:rPr sz="1900" b="1" i="0">
                <a:solidFill>
                  <a:srgbClr val="2EB872"/>
                </a:solidFill>
                <a:latin typeface="Segoe UI"/>
              </a:rPr>
              <a:t>9</a:t>
            </a:r>
          </a:p>
        </p:txBody>
      </p:sp>
      <p:sp>
        <p:nvSpPr>
          <p:cNvPr id="16" name="TextBox 15"/>
          <p:cNvSpPr txBox="1"/>
          <p:nvPr/>
        </p:nvSpPr>
        <p:spPr>
          <a:xfrm>
            <a:off x="2395728" y="5294376"/>
            <a:ext cx="1481328" cy="274320"/>
          </a:xfrm>
          <a:prstGeom prst="rect">
            <a:avLst/>
          </a:prstGeom>
          <a:noFill/>
        </p:spPr>
        <p:txBody>
          <a:bodyPr wrap="square" lIns="0" rIns="0" tIns="0" bIns="0" anchor="t"/>
          <a:lstStyle/>
          <a:p>
            <a:pPr algn="ctr"/>
            <a:r>
              <a:rPr sz="850" b="0" i="0">
                <a:solidFill>
                  <a:srgbClr val="8C9BAB"/>
                </a:solidFill>
                <a:latin typeface="Segoe UI"/>
              </a:rPr>
              <a:t>categories</a:t>
            </a:r>
          </a:p>
        </p:txBody>
      </p:sp>
      <p:sp>
        <p:nvSpPr>
          <p:cNvPr id="17" name="Rounded Rectangle 16"/>
          <p:cNvSpPr/>
          <p:nvPr/>
        </p:nvSpPr>
        <p:spPr>
          <a:xfrm>
            <a:off x="3968496"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8496" y="4937759"/>
            <a:ext cx="1481328" cy="365760"/>
          </a:xfrm>
          <a:prstGeom prst="rect">
            <a:avLst/>
          </a:prstGeom>
          <a:noFill/>
        </p:spPr>
        <p:txBody>
          <a:bodyPr wrap="square" lIns="0" rIns="0" tIns="0" bIns="0" anchor="t"/>
          <a:lstStyle/>
          <a:p>
            <a:pPr algn="ctr"/>
            <a:r>
              <a:rPr sz="1900" b="1" i="0">
                <a:solidFill>
                  <a:srgbClr val="2EB872"/>
                </a:solidFill>
                <a:latin typeface="Segoe UI"/>
              </a:rPr>
              <a:t>6</a:t>
            </a:r>
          </a:p>
        </p:txBody>
      </p:sp>
      <p:sp>
        <p:nvSpPr>
          <p:cNvPr id="19" name="TextBox 18"/>
          <p:cNvSpPr txBox="1"/>
          <p:nvPr/>
        </p:nvSpPr>
        <p:spPr>
          <a:xfrm>
            <a:off x="3968496" y="5294376"/>
            <a:ext cx="1481328" cy="274320"/>
          </a:xfrm>
          <a:prstGeom prst="rect">
            <a:avLst/>
          </a:prstGeom>
          <a:noFill/>
        </p:spPr>
        <p:txBody>
          <a:bodyPr wrap="square" lIns="0" rIns="0" tIns="0" bIns="0" anchor="t"/>
          <a:lstStyle/>
          <a:p>
            <a:pPr algn="ctr"/>
            <a:r>
              <a:rPr sz="850" b="0" i="0">
                <a:solidFill>
                  <a:srgbClr val="8C9BAB"/>
                </a:solidFill>
                <a:latin typeface="Segoe UI"/>
              </a:rPr>
              <a:t>test suites</a:t>
            </a:r>
          </a:p>
        </p:txBody>
      </p:sp>
      <p:sp>
        <p:nvSpPr>
          <p:cNvPr id="20" name="Rounded Rectangle 19"/>
          <p:cNvSpPr/>
          <p:nvPr/>
        </p:nvSpPr>
        <p:spPr>
          <a:xfrm>
            <a:off x="5541264"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41264" y="4937759"/>
            <a:ext cx="1481328" cy="365760"/>
          </a:xfrm>
          <a:prstGeom prst="rect">
            <a:avLst/>
          </a:prstGeom>
          <a:noFill/>
        </p:spPr>
        <p:txBody>
          <a:bodyPr wrap="square" lIns="0" rIns="0" tIns="0" bIns="0" anchor="t"/>
          <a:lstStyle/>
          <a:p>
            <a:pPr algn="ctr"/>
            <a:r>
              <a:rPr sz="1900" b="1" i="0">
                <a:solidFill>
                  <a:srgbClr val="2EB872"/>
                </a:solidFill>
                <a:latin typeface="Segoe UI"/>
              </a:rPr>
              <a:t>14</a:t>
            </a:r>
          </a:p>
        </p:txBody>
      </p:sp>
      <p:sp>
        <p:nvSpPr>
          <p:cNvPr id="22" name="TextBox 21"/>
          <p:cNvSpPr txBox="1"/>
          <p:nvPr/>
        </p:nvSpPr>
        <p:spPr>
          <a:xfrm>
            <a:off x="5541264" y="5294376"/>
            <a:ext cx="1481328" cy="274320"/>
          </a:xfrm>
          <a:prstGeom prst="rect">
            <a:avLst/>
          </a:prstGeom>
          <a:noFill/>
        </p:spPr>
        <p:txBody>
          <a:bodyPr wrap="square" lIns="0" rIns="0" tIns="0" bIns="0" anchor="t"/>
          <a:lstStyle/>
          <a:p>
            <a:pPr algn="ctr"/>
            <a:r>
              <a:rPr sz="850" b="0" i="0">
                <a:solidFill>
                  <a:srgbClr val="8C9BAB"/>
                </a:solidFill>
                <a:latin typeface="Segoe UI"/>
              </a:rPr>
              <a:t>API endpoints</a:t>
            </a:r>
          </a:p>
        </p:txBody>
      </p:sp>
      <p:sp>
        <p:nvSpPr>
          <p:cNvPr id="23" name="Rounded Rectangle 22"/>
          <p:cNvSpPr/>
          <p:nvPr/>
        </p:nvSpPr>
        <p:spPr>
          <a:xfrm>
            <a:off x="7114032"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14032" y="4937759"/>
            <a:ext cx="1481328" cy="365760"/>
          </a:xfrm>
          <a:prstGeom prst="rect">
            <a:avLst/>
          </a:prstGeom>
          <a:noFill/>
        </p:spPr>
        <p:txBody>
          <a:bodyPr wrap="square" lIns="0" rIns="0" tIns="0" bIns="0" anchor="t"/>
          <a:lstStyle/>
          <a:p>
            <a:pPr algn="ctr"/>
            <a:r>
              <a:rPr sz="1900" b="1" i="0">
                <a:solidFill>
                  <a:srgbClr val="2EB872"/>
                </a:solidFill>
                <a:latin typeface="Segoe UI"/>
              </a:rPr>
              <a:t>6</a:t>
            </a:r>
          </a:p>
        </p:txBody>
      </p:sp>
      <p:sp>
        <p:nvSpPr>
          <p:cNvPr id="25" name="TextBox 24"/>
          <p:cNvSpPr txBox="1"/>
          <p:nvPr/>
        </p:nvSpPr>
        <p:spPr>
          <a:xfrm>
            <a:off x="7114032" y="5294376"/>
            <a:ext cx="1481328" cy="274320"/>
          </a:xfrm>
          <a:prstGeom prst="rect">
            <a:avLst/>
          </a:prstGeom>
          <a:noFill/>
        </p:spPr>
        <p:txBody>
          <a:bodyPr wrap="square" lIns="0" rIns="0" tIns="0" bIns="0" anchor="t"/>
          <a:lstStyle/>
          <a:p>
            <a:pPr algn="ctr"/>
            <a:r>
              <a:rPr sz="850" b="0" i="0">
                <a:solidFill>
                  <a:srgbClr val="8C9BAB"/>
                </a:solidFill>
                <a:latin typeface="Segoe UI"/>
              </a:rPr>
              <a:t>DB tables</a:t>
            </a:r>
          </a:p>
        </p:txBody>
      </p:sp>
      <p:sp>
        <p:nvSpPr>
          <p:cNvPr id="26" name="Rounded Rectangle 25"/>
          <p:cNvSpPr/>
          <p:nvPr/>
        </p:nvSpPr>
        <p:spPr>
          <a:xfrm>
            <a:off x="8686800"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0" y="4937759"/>
            <a:ext cx="1481328" cy="365760"/>
          </a:xfrm>
          <a:prstGeom prst="rect">
            <a:avLst/>
          </a:prstGeom>
          <a:noFill/>
        </p:spPr>
        <p:txBody>
          <a:bodyPr wrap="square" lIns="0" rIns="0" tIns="0" bIns="0" anchor="t"/>
          <a:lstStyle/>
          <a:p>
            <a:pPr algn="ctr"/>
            <a:r>
              <a:rPr sz="1900" b="1" i="0">
                <a:solidFill>
                  <a:srgbClr val="2EB872"/>
                </a:solidFill>
                <a:latin typeface="Segoe UI"/>
              </a:rPr>
              <a:t>7</a:t>
            </a:r>
          </a:p>
        </p:txBody>
      </p:sp>
      <p:sp>
        <p:nvSpPr>
          <p:cNvPr id="28" name="TextBox 27"/>
          <p:cNvSpPr txBox="1"/>
          <p:nvPr/>
        </p:nvSpPr>
        <p:spPr>
          <a:xfrm>
            <a:off x="8686800" y="5294376"/>
            <a:ext cx="1481328" cy="274320"/>
          </a:xfrm>
          <a:prstGeom prst="rect">
            <a:avLst/>
          </a:prstGeom>
          <a:noFill/>
        </p:spPr>
        <p:txBody>
          <a:bodyPr wrap="square" lIns="0" rIns="0" tIns="0" bIns="0" anchor="t"/>
          <a:lstStyle/>
          <a:p>
            <a:pPr algn="ctr"/>
            <a:r>
              <a:rPr sz="850" b="0" i="0">
                <a:solidFill>
                  <a:srgbClr val="8C9BAB"/>
                </a:solidFill>
                <a:latin typeface="Segoe UI"/>
              </a:rPr>
              <a:t>dashboard pages</a:t>
            </a:r>
          </a:p>
        </p:txBody>
      </p:sp>
      <p:sp>
        <p:nvSpPr>
          <p:cNvPr id="29" name="Rounded Rectangle 28"/>
          <p:cNvSpPr/>
          <p:nvPr/>
        </p:nvSpPr>
        <p:spPr>
          <a:xfrm>
            <a:off x="10259568" y="4846320"/>
            <a:ext cx="1481328" cy="749808"/>
          </a:xfrm>
          <a:prstGeom prst="roundRect">
            <a:avLst>
              <a:gd name="adj" fmla="val 10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59568" y="4937759"/>
            <a:ext cx="1481328" cy="365760"/>
          </a:xfrm>
          <a:prstGeom prst="rect">
            <a:avLst/>
          </a:prstGeom>
          <a:noFill/>
        </p:spPr>
        <p:txBody>
          <a:bodyPr wrap="square" lIns="0" rIns="0" tIns="0" bIns="0" anchor="t"/>
          <a:lstStyle/>
          <a:p>
            <a:pPr algn="ctr"/>
            <a:r>
              <a:rPr sz="1900" b="1" i="0">
                <a:solidFill>
                  <a:srgbClr val="2EB872"/>
                </a:solidFill>
                <a:latin typeface="Segoe UI"/>
              </a:rPr>
              <a:t>40</a:t>
            </a:r>
          </a:p>
        </p:txBody>
      </p:sp>
      <p:sp>
        <p:nvSpPr>
          <p:cNvPr id="31" name="TextBox 30"/>
          <p:cNvSpPr txBox="1"/>
          <p:nvPr/>
        </p:nvSpPr>
        <p:spPr>
          <a:xfrm>
            <a:off x="10259568" y="5294376"/>
            <a:ext cx="1481328" cy="274320"/>
          </a:xfrm>
          <a:prstGeom prst="rect">
            <a:avLst/>
          </a:prstGeom>
          <a:noFill/>
        </p:spPr>
        <p:txBody>
          <a:bodyPr wrap="square" lIns="0" rIns="0" tIns="0" bIns="0" anchor="t"/>
          <a:lstStyle/>
          <a:p>
            <a:pPr algn="ctr"/>
            <a:r>
              <a:rPr sz="850" b="0" i="0">
                <a:solidFill>
                  <a:srgbClr val="8C9BAB"/>
                </a:solidFill>
                <a:latin typeface="Segoe UI"/>
              </a:rPr>
              <a:t>automated tests</a:t>
            </a:r>
          </a:p>
        </p:txBody>
      </p:sp>
      <p:sp>
        <p:nvSpPr>
          <p:cNvPr id="32" name="TextBox 31"/>
          <p:cNvSpPr txBox="1"/>
          <p:nvPr/>
        </p:nvSpPr>
        <p:spPr>
          <a:xfrm>
            <a:off x="822960" y="5989320"/>
            <a:ext cx="10058400" cy="274320"/>
          </a:xfrm>
          <a:prstGeom prst="rect">
            <a:avLst/>
          </a:prstGeom>
          <a:noFill/>
        </p:spPr>
        <p:txBody>
          <a:bodyPr wrap="square" lIns="0" rIns="0" tIns="0" bIns="0" anchor="t"/>
          <a:lstStyle/>
          <a:p>
            <a:pPr algn="l"/>
            <a:r>
              <a:rPr sz="1100" b="0" i="0">
                <a:solidFill>
                  <a:srgbClr val="8C9BAB"/>
                </a:solidFill>
                <a:latin typeface="Segoe UI"/>
              </a:rPr>
              <a:t>Domain: AI Security · LLM Red-Teaming          Academic Year 2026 – 2027          Date: 16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01</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Abstract</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Repeatable, measurable, evidence-backed red-teaming for LLM applications</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2</a:t>
            </a:r>
          </a:p>
        </p:txBody>
      </p:sp>
      <p:sp>
        <p:nvSpPr>
          <p:cNvPr id="10" name="TextBox 9"/>
          <p:cNvSpPr txBox="1"/>
          <p:nvPr/>
        </p:nvSpPr>
        <p:spPr>
          <a:xfrm>
            <a:off x="1051560" y="1371600"/>
            <a:ext cx="10515600" cy="1097280"/>
          </a:xfrm>
          <a:prstGeom prst="rect">
            <a:avLst/>
          </a:prstGeom>
          <a:noFill/>
        </p:spPr>
        <p:txBody>
          <a:bodyPr wrap="square" lIns="0" rIns="0" tIns="0" bIns="0" anchor="t"/>
          <a:lstStyle/>
          <a:p>
            <a:pPr algn="l"/>
            <a:r>
              <a:rPr sz="1300" b="0" i="0">
                <a:solidFill>
                  <a:srgbClr val="141B26"/>
                </a:solidFill>
                <a:latin typeface="Segoe UI"/>
              </a:rPr>
              <a:t>LLM applications are attacked through plain language — prompt injection, jailbreaks, data exfiltration and agency abuse — yet testing them is still manual, unstructured and impossible to audit. PromptBreaker AI automates red-teaming with a curated probe suite, judges every response with a hybrid rules-plus-LLM engine, maps findings to the OWASP Top 10 for LLM Applications and NIST AI RMF, and seals every artifact into a SHA-256 + HMAC evidence chain. Validated: 180 attack simulations, 27 verified findings, overall score 86.67 / 100 and 40 / 40 automated tests passing.</a:t>
            </a:r>
          </a:p>
        </p:txBody>
      </p:sp>
      <p:sp>
        <p:nvSpPr>
          <p:cNvPr id="11" name="Rounded Rectangle 10"/>
          <p:cNvSpPr/>
          <p:nvPr/>
        </p:nvSpPr>
        <p:spPr>
          <a:xfrm>
            <a:off x="1051560" y="2697480"/>
            <a:ext cx="3401568"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 y="2697480"/>
            <a:ext cx="3401568" cy="8229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2728" y="2880360"/>
            <a:ext cx="2999232" cy="457200"/>
          </a:xfrm>
          <a:prstGeom prst="rect">
            <a:avLst/>
          </a:prstGeom>
          <a:noFill/>
        </p:spPr>
        <p:txBody>
          <a:bodyPr wrap="square" lIns="0" rIns="0" tIns="0" bIns="0" anchor="t"/>
          <a:lstStyle/>
          <a:p>
            <a:pPr algn="l"/>
            <a:r>
              <a:rPr sz="1350" b="1" i="0">
                <a:solidFill>
                  <a:srgbClr val="0F2540"/>
                </a:solidFill>
                <a:latin typeface="Segoe UI"/>
              </a:rPr>
              <a:t>Authorized by design</a:t>
            </a:r>
          </a:p>
        </p:txBody>
      </p:sp>
      <p:sp>
        <p:nvSpPr>
          <p:cNvPr id="14" name="TextBox 13"/>
          <p:cNvSpPr txBox="1"/>
          <p:nvPr/>
        </p:nvSpPr>
        <p:spPr>
          <a:xfrm>
            <a:off x="1252728" y="3401568"/>
            <a:ext cx="2999232" cy="1188720"/>
          </a:xfrm>
          <a:prstGeom prst="rect">
            <a:avLst/>
          </a:prstGeom>
          <a:noFill/>
        </p:spPr>
        <p:txBody>
          <a:bodyPr wrap="square" lIns="0" rIns="0" tIns="0" bIns="0" anchor="t"/>
          <a:lstStyle/>
          <a:p>
            <a:pPr algn="l"/>
            <a:r>
              <a:rPr sz="1050" b="0" i="0">
                <a:solidFill>
                  <a:srgbClr val="8C9BAB"/>
                </a:solidFill>
                <a:latin typeface="Segoe UI"/>
              </a:rPr>
              <a:t>Every run must carry a scope attestation — authorizer, target pattern, reference and expiry. The engine refuses out-of-scope targets before a single probe is sent.</a:t>
            </a:r>
          </a:p>
        </p:txBody>
      </p:sp>
      <p:sp>
        <p:nvSpPr>
          <p:cNvPr id="15" name="Rounded Rectangle 14"/>
          <p:cNvSpPr/>
          <p:nvPr/>
        </p:nvSpPr>
        <p:spPr>
          <a:xfrm>
            <a:off x="4654296" y="2697480"/>
            <a:ext cx="3401568"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54296" y="2697480"/>
            <a:ext cx="3401568" cy="8229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55464" y="2880360"/>
            <a:ext cx="2999232" cy="457200"/>
          </a:xfrm>
          <a:prstGeom prst="rect">
            <a:avLst/>
          </a:prstGeom>
          <a:noFill/>
        </p:spPr>
        <p:txBody>
          <a:bodyPr wrap="square" lIns="0" rIns="0" tIns="0" bIns="0" anchor="t"/>
          <a:lstStyle/>
          <a:p>
            <a:pPr algn="l"/>
            <a:r>
              <a:rPr sz="1350" b="1" i="0">
                <a:solidFill>
                  <a:srgbClr val="0F2540"/>
                </a:solidFill>
                <a:latin typeface="Segoe UI"/>
              </a:rPr>
              <a:t>Judged with proof</a:t>
            </a:r>
          </a:p>
        </p:txBody>
      </p:sp>
      <p:sp>
        <p:nvSpPr>
          <p:cNvPr id="18" name="TextBox 17"/>
          <p:cNvSpPr txBox="1"/>
          <p:nvPr/>
        </p:nvSpPr>
        <p:spPr>
          <a:xfrm>
            <a:off x="4855464" y="3401568"/>
            <a:ext cx="2999232" cy="1188720"/>
          </a:xfrm>
          <a:prstGeom prst="rect">
            <a:avLst/>
          </a:prstGeom>
          <a:noFill/>
        </p:spPr>
        <p:txBody>
          <a:bodyPr wrap="square" lIns="0" rIns="0" tIns="0" bIns="0" anchor="t"/>
          <a:lstStyle/>
          <a:p>
            <a:pPr algn="l"/>
            <a:r>
              <a:rPr sz="1050" b="0" i="0">
                <a:solidFill>
                  <a:srgbClr val="8C9BAB"/>
                </a:solidFill>
                <a:latin typeface="Segoe UI"/>
              </a:rPr>
              <a:t>Deterministic rules run first, an optional self-hosted LLM judge follows — but any verdict without a verbatim quoted span from the target’s own answer is rejected.</a:t>
            </a:r>
          </a:p>
        </p:txBody>
      </p:sp>
      <p:sp>
        <p:nvSpPr>
          <p:cNvPr id="19" name="Rounded Rectangle 18"/>
          <p:cNvSpPr/>
          <p:nvPr/>
        </p:nvSpPr>
        <p:spPr>
          <a:xfrm>
            <a:off x="8257031" y="2697480"/>
            <a:ext cx="3401568"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7031" y="2697480"/>
            <a:ext cx="3401568" cy="82296"/>
          </a:xfrm>
          <a:prstGeom prst="rect">
            <a:avLst/>
          </a:prstGeom>
          <a:solidFill>
            <a:srgbClr val="E0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2880360"/>
            <a:ext cx="2999232" cy="457200"/>
          </a:xfrm>
          <a:prstGeom prst="rect">
            <a:avLst/>
          </a:prstGeom>
          <a:noFill/>
        </p:spPr>
        <p:txBody>
          <a:bodyPr wrap="square" lIns="0" rIns="0" tIns="0" bIns="0" anchor="t"/>
          <a:lstStyle/>
          <a:p>
            <a:pPr algn="l"/>
            <a:r>
              <a:rPr sz="1350" b="1" i="0">
                <a:solidFill>
                  <a:srgbClr val="0F2540"/>
                </a:solidFill>
                <a:latin typeface="Segoe UI"/>
              </a:rPr>
              <a:t>Evidence that cannot silently change</a:t>
            </a:r>
          </a:p>
        </p:txBody>
      </p:sp>
      <p:sp>
        <p:nvSpPr>
          <p:cNvPr id="22" name="TextBox 21"/>
          <p:cNvSpPr txBox="1"/>
          <p:nvPr/>
        </p:nvSpPr>
        <p:spPr>
          <a:xfrm>
            <a:off x="8458200" y="3401568"/>
            <a:ext cx="2999232" cy="1188720"/>
          </a:xfrm>
          <a:prstGeom prst="rect">
            <a:avLst/>
          </a:prstGeom>
          <a:noFill/>
        </p:spPr>
        <p:txBody>
          <a:bodyPr wrap="square" lIns="0" rIns="0" tIns="0" bIns="0" anchor="t"/>
          <a:lstStyle/>
          <a:p>
            <a:pPr algn="l"/>
            <a:r>
              <a:rPr sz="1050" b="0" i="0">
                <a:solidFill>
                  <a:srgbClr val="8C9BAB"/>
                </a:solidFill>
                <a:latin typeface="Segoe UI"/>
              </a:rPr>
              <a:t>Each artifact is SHA-256 hashed and HMAC-linked to the previous entry; editing, dropping or reordering any record breaks chain verification.</a:t>
            </a:r>
          </a:p>
        </p:txBody>
      </p:sp>
      <p:sp>
        <p:nvSpPr>
          <p:cNvPr id="23" name="Rounded Rectangle 22"/>
          <p:cNvSpPr/>
          <p:nvPr/>
        </p:nvSpPr>
        <p:spPr>
          <a:xfrm>
            <a:off x="1051560" y="4983480"/>
            <a:ext cx="10607040" cy="1051560"/>
          </a:xfrm>
          <a:prstGeom prst="roundRect">
            <a:avLst>
              <a:gd name="adj" fmla="val 5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5120640"/>
            <a:ext cx="10058400" cy="822960"/>
          </a:xfrm>
          <a:prstGeom prst="rect">
            <a:avLst/>
          </a:prstGeom>
          <a:noFill/>
        </p:spPr>
        <p:txBody>
          <a:bodyPr wrap="square" lIns="0" rIns="0" tIns="0" bIns="0" anchor="t"/>
          <a:lstStyle/>
          <a:p>
            <a:pPr algn="l"/>
            <a:r>
              <a:rPr sz="1150" b="0" i="0">
                <a:solidFill>
                  <a:srgbClr val="FFFFFF"/>
                </a:solidFill>
                <a:latin typeface="Segoe UI"/>
              </a:rPr>
              <a:t>Delivered as a FastAPI control plane (14 REST endpoints incl. SSE), a Next.js 7-page operations dashboard, Markdown / JSON / SARIF export and a Go WebView2 desktop shell.</a:t>
            </a:r>
          </a:p>
          <a:p>
            <a:pPr algn="l"/>
            <a:r>
              <a:rPr sz="1150" b="0" i="0">
                <a:solidFill>
                  <a:srgbClr val="FFFFFF"/>
                </a:solidFill>
                <a:latin typeface="Segoe UI"/>
              </a:rPr>
              <a:t>Quality: 40 automated tests · 588 bot × probe × mutator self-test combinations · evidence chain valid on every run.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02</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Problem Statement</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Six real-world gaps the proposed work targets</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3</a:t>
            </a:r>
          </a:p>
        </p:txBody>
      </p:sp>
      <p:sp>
        <p:nvSpPr>
          <p:cNvPr id="10" name="Rounded Rectangle 9"/>
          <p:cNvSpPr/>
          <p:nvPr/>
        </p:nvSpPr>
        <p:spPr>
          <a:xfrm>
            <a:off x="1051560" y="1463040"/>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34439" y="1664208"/>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39" y="1709928"/>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13" name="TextBox 12"/>
          <p:cNvSpPr txBox="1"/>
          <p:nvPr/>
        </p:nvSpPr>
        <p:spPr>
          <a:xfrm>
            <a:off x="1783080" y="1609344"/>
            <a:ext cx="4297680" cy="320040"/>
          </a:xfrm>
          <a:prstGeom prst="rect">
            <a:avLst/>
          </a:prstGeom>
          <a:noFill/>
        </p:spPr>
        <p:txBody>
          <a:bodyPr wrap="square" lIns="0" rIns="0" tIns="0" bIns="0" anchor="t"/>
          <a:lstStyle/>
          <a:p>
            <a:pPr algn="l"/>
            <a:r>
              <a:rPr sz="1300" b="1" i="0">
                <a:solidFill>
                  <a:srgbClr val="0F2540"/>
                </a:solidFill>
                <a:latin typeface="Segoe UI"/>
              </a:rPr>
              <a:t>Manual testing is unrepeatable</a:t>
            </a:r>
          </a:p>
        </p:txBody>
      </p:sp>
      <p:sp>
        <p:nvSpPr>
          <p:cNvPr id="14" name="TextBox 13"/>
          <p:cNvSpPr txBox="1"/>
          <p:nvPr/>
        </p:nvSpPr>
        <p:spPr>
          <a:xfrm>
            <a:off x="1783080" y="1965960"/>
            <a:ext cx="4297680" cy="658368"/>
          </a:xfrm>
          <a:prstGeom prst="rect">
            <a:avLst/>
          </a:prstGeom>
          <a:noFill/>
        </p:spPr>
        <p:txBody>
          <a:bodyPr wrap="square" lIns="0" rIns="0" tIns="0" bIns="0" anchor="t"/>
          <a:lstStyle/>
          <a:p>
            <a:pPr algn="l"/>
            <a:r>
              <a:rPr sz="1000" b="0" i="0">
                <a:solidFill>
                  <a:srgbClr val="8C9BAB"/>
                </a:solidFill>
                <a:latin typeface="Segoe UI"/>
              </a:rPr>
              <a:t>Results depend on the individual engineer; the same system is never tested the same way twice, so progress cannot be compared.</a:t>
            </a:r>
          </a:p>
        </p:txBody>
      </p:sp>
      <p:sp>
        <p:nvSpPr>
          <p:cNvPr id="15" name="Rounded Rectangle 14"/>
          <p:cNvSpPr/>
          <p:nvPr/>
        </p:nvSpPr>
        <p:spPr>
          <a:xfrm>
            <a:off x="6446520" y="1463040"/>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9400" y="1664208"/>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709928"/>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18" name="TextBox 17"/>
          <p:cNvSpPr txBox="1"/>
          <p:nvPr/>
        </p:nvSpPr>
        <p:spPr>
          <a:xfrm>
            <a:off x="7178040" y="1609344"/>
            <a:ext cx="4297680" cy="320040"/>
          </a:xfrm>
          <a:prstGeom prst="rect">
            <a:avLst/>
          </a:prstGeom>
          <a:noFill/>
        </p:spPr>
        <p:txBody>
          <a:bodyPr wrap="square" lIns="0" rIns="0" tIns="0" bIns="0" anchor="t"/>
          <a:lstStyle/>
          <a:p>
            <a:pPr algn="l"/>
            <a:r>
              <a:rPr sz="1300" b="1" i="0">
                <a:solidFill>
                  <a:srgbClr val="0F2540"/>
                </a:solidFill>
                <a:latin typeface="Segoe UI"/>
              </a:rPr>
              <a:t>No coverage measurement</a:t>
            </a:r>
          </a:p>
        </p:txBody>
      </p:sp>
      <p:sp>
        <p:nvSpPr>
          <p:cNvPr id="19" name="TextBox 18"/>
          <p:cNvSpPr txBox="1"/>
          <p:nvPr/>
        </p:nvSpPr>
        <p:spPr>
          <a:xfrm>
            <a:off x="7178040" y="1965960"/>
            <a:ext cx="4297680" cy="658368"/>
          </a:xfrm>
          <a:prstGeom prst="rect">
            <a:avLst/>
          </a:prstGeom>
          <a:noFill/>
        </p:spPr>
        <p:txBody>
          <a:bodyPr wrap="square" lIns="0" rIns="0" tIns="0" bIns="0" anchor="t"/>
          <a:lstStyle/>
          <a:p>
            <a:pPr algn="l"/>
            <a:r>
              <a:rPr sz="1000" b="0" i="0">
                <a:solidFill>
                  <a:srgbClr val="8C9BAB"/>
                </a:solidFill>
                <a:latin typeface="Segoe UI"/>
              </a:rPr>
              <a:t>Nobody can say what fraction of attack categories was tried — “we tested it” is an opinion, not a metric.</a:t>
            </a:r>
          </a:p>
        </p:txBody>
      </p:sp>
      <p:sp>
        <p:nvSpPr>
          <p:cNvPr id="20" name="Rounded Rectangle 19"/>
          <p:cNvSpPr/>
          <p:nvPr/>
        </p:nvSpPr>
        <p:spPr>
          <a:xfrm>
            <a:off x="1051560" y="2862072"/>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34439" y="3063240"/>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4439" y="3108960"/>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23" name="TextBox 22"/>
          <p:cNvSpPr txBox="1"/>
          <p:nvPr/>
        </p:nvSpPr>
        <p:spPr>
          <a:xfrm>
            <a:off x="1783080" y="3008376"/>
            <a:ext cx="4297680" cy="320040"/>
          </a:xfrm>
          <a:prstGeom prst="rect">
            <a:avLst/>
          </a:prstGeom>
          <a:noFill/>
        </p:spPr>
        <p:txBody>
          <a:bodyPr wrap="square" lIns="0" rIns="0" tIns="0" bIns="0" anchor="t"/>
          <a:lstStyle/>
          <a:p>
            <a:pPr algn="l"/>
            <a:r>
              <a:rPr sz="1300" b="1" i="0">
                <a:solidFill>
                  <a:srgbClr val="0F2540"/>
                </a:solidFill>
                <a:latin typeface="Segoe UI"/>
              </a:rPr>
              <a:t>Evidence without integrity</a:t>
            </a:r>
          </a:p>
        </p:txBody>
      </p:sp>
      <p:sp>
        <p:nvSpPr>
          <p:cNvPr id="24" name="TextBox 23"/>
          <p:cNvSpPr txBox="1"/>
          <p:nvPr/>
        </p:nvSpPr>
        <p:spPr>
          <a:xfrm>
            <a:off x="1783080" y="3364991"/>
            <a:ext cx="4297680" cy="658368"/>
          </a:xfrm>
          <a:prstGeom prst="rect">
            <a:avLst/>
          </a:prstGeom>
          <a:noFill/>
        </p:spPr>
        <p:txBody>
          <a:bodyPr wrap="square" lIns="0" rIns="0" tIns="0" bIns="0" anchor="t"/>
          <a:lstStyle/>
          <a:p>
            <a:pPr algn="l"/>
            <a:r>
              <a:rPr sz="1000" b="0" i="0">
                <a:solidFill>
                  <a:srgbClr val="8C9BAB"/>
                </a:solidFill>
                <a:latin typeface="Segoe UI"/>
              </a:rPr>
              <a:t>Findings live as screenshots and loose text files that can be edited silently; nothing links a claim to raw response bytes.</a:t>
            </a:r>
          </a:p>
        </p:txBody>
      </p:sp>
      <p:sp>
        <p:nvSpPr>
          <p:cNvPr id="25" name="Rounded Rectangle 24"/>
          <p:cNvSpPr/>
          <p:nvPr/>
        </p:nvSpPr>
        <p:spPr>
          <a:xfrm>
            <a:off x="6446520" y="2862072"/>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29400" y="3063240"/>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3108960"/>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28" name="TextBox 27"/>
          <p:cNvSpPr txBox="1"/>
          <p:nvPr/>
        </p:nvSpPr>
        <p:spPr>
          <a:xfrm>
            <a:off x="7178040" y="3008376"/>
            <a:ext cx="4297680" cy="320040"/>
          </a:xfrm>
          <a:prstGeom prst="rect">
            <a:avLst/>
          </a:prstGeom>
          <a:noFill/>
        </p:spPr>
        <p:txBody>
          <a:bodyPr wrap="square" lIns="0" rIns="0" tIns="0" bIns="0" anchor="t"/>
          <a:lstStyle/>
          <a:p>
            <a:pPr algn="l"/>
            <a:r>
              <a:rPr sz="1300" b="1" i="0">
                <a:solidFill>
                  <a:srgbClr val="0F2540"/>
                </a:solidFill>
                <a:latin typeface="Segoe UI"/>
              </a:rPr>
              <a:t>Findings not framework-mapped</a:t>
            </a:r>
          </a:p>
        </p:txBody>
      </p:sp>
      <p:sp>
        <p:nvSpPr>
          <p:cNvPr id="29" name="TextBox 28"/>
          <p:cNvSpPr txBox="1"/>
          <p:nvPr/>
        </p:nvSpPr>
        <p:spPr>
          <a:xfrm>
            <a:off x="7178040" y="3364991"/>
            <a:ext cx="4297680" cy="658368"/>
          </a:xfrm>
          <a:prstGeom prst="rect">
            <a:avLst/>
          </a:prstGeom>
          <a:noFill/>
        </p:spPr>
        <p:txBody>
          <a:bodyPr wrap="square" lIns="0" rIns="0" tIns="0" bIns="0" anchor="t"/>
          <a:lstStyle/>
          <a:p>
            <a:pPr algn="l"/>
            <a:r>
              <a:rPr sz="1000" b="0" i="0">
                <a:solidFill>
                  <a:srgbClr val="8C9BAB"/>
                </a:solidFill>
                <a:latin typeface="Segoe UI"/>
              </a:rPr>
              <a:t>OWASP defines what to test for LLMs, yet results rarely map to OWASP LLM Top 10 or NIST AI RMF controls.</a:t>
            </a:r>
          </a:p>
        </p:txBody>
      </p:sp>
      <p:sp>
        <p:nvSpPr>
          <p:cNvPr id="30" name="Rounded Rectangle 29"/>
          <p:cNvSpPr/>
          <p:nvPr/>
        </p:nvSpPr>
        <p:spPr>
          <a:xfrm>
            <a:off x="1051560" y="4261104"/>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234439" y="4462272"/>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34439" y="4507992"/>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33" name="TextBox 32"/>
          <p:cNvSpPr txBox="1"/>
          <p:nvPr/>
        </p:nvSpPr>
        <p:spPr>
          <a:xfrm>
            <a:off x="1783080" y="4407408"/>
            <a:ext cx="4297680" cy="320040"/>
          </a:xfrm>
          <a:prstGeom prst="rect">
            <a:avLst/>
          </a:prstGeom>
          <a:noFill/>
        </p:spPr>
        <p:txBody>
          <a:bodyPr wrap="square" lIns="0" rIns="0" tIns="0" bIns="0" anchor="t"/>
          <a:lstStyle/>
          <a:p>
            <a:pPr algn="l"/>
            <a:r>
              <a:rPr sz="1300" b="1" i="0">
                <a:solidFill>
                  <a:srgbClr val="0F2540"/>
                </a:solidFill>
                <a:latin typeface="Segoe UI"/>
              </a:rPr>
              <a:t>Tests run without recorded approval</a:t>
            </a:r>
          </a:p>
        </p:txBody>
      </p:sp>
      <p:sp>
        <p:nvSpPr>
          <p:cNvPr id="34" name="TextBox 33"/>
          <p:cNvSpPr txBox="1"/>
          <p:nvPr/>
        </p:nvSpPr>
        <p:spPr>
          <a:xfrm>
            <a:off x="1783080" y="4764024"/>
            <a:ext cx="4297680" cy="658368"/>
          </a:xfrm>
          <a:prstGeom prst="rect">
            <a:avLst/>
          </a:prstGeom>
          <a:noFill/>
        </p:spPr>
        <p:txBody>
          <a:bodyPr wrap="square" lIns="0" rIns="0" tIns="0" bIns="0" anchor="t"/>
          <a:lstStyle/>
          <a:p>
            <a:pPr algn="l"/>
            <a:r>
              <a:rPr sz="1000" b="0" i="0">
                <a:solidFill>
                  <a:srgbClr val="8C9BAB"/>
                </a:solidFill>
                <a:latin typeface="Segoe UI"/>
              </a:rPr>
              <a:t>Prompts are fired at systems with no stored authorization — legal and ethical exposure for tester and owner alike.</a:t>
            </a:r>
          </a:p>
        </p:txBody>
      </p:sp>
      <p:sp>
        <p:nvSpPr>
          <p:cNvPr id="35" name="Rounded Rectangle 34"/>
          <p:cNvSpPr/>
          <p:nvPr/>
        </p:nvSpPr>
        <p:spPr>
          <a:xfrm>
            <a:off x="6446520" y="4261104"/>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629400" y="4462272"/>
            <a:ext cx="402336" cy="402336"/>
          </a:xfrm>
          <a:prstGeom prst="ellipse">
            <a:avLst/>
          </a:prstGeom>
          <a:solidFill>
            <a:srgbClr val="D627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4507992"/>
            <a:ext cx="402336" cy="365760"/>
          </a:xfrm>
          <a:prstGeom prst="rect">
            <a:avLst/>
          </a:prstGeom>
          <a:noFill/>
        </p:spPr>
        <p:txBody>
          <a:bodyPr wrap="square" lIns="0" rIns="0" tIns="0" bIns="0" anchor="t"/>
          <a:lstStyle/>
          <a:p>
            <a:pPr algn="ctr"/>
            <a:r>
              <a:rPr sz="1600" b="1" i="0">
                <a:solidFill>
                  <a:srgbClr val="FFFFFF"/>
                </a:solidFill>
                <a:latin typeface="Segoe UI"/>
              </a:rPr>
              <a:t>!</a:t>
            </a:r>
          </a:p>
        </p:txBody>
      </p:sp>
      <p:sp>
        <p:nvSpPr>
          <p:cNvPr id="38" name="TextBox 37"/>
          <p:cNvSpPr txBox="1"/>
          <p:nvPr/>
        </p:nvSpPr>
        <p:spPr>
          <a:xfrm>
            <a:off x="7178040" y="4407408"/>
            <a:ext cx="4297680" cy="320040"/>
          </a:xfrm>
          <a:prstGeom prst="rect">
            <a:avLst/>
          </a:prstGeom>
          <a:noFill/>
        </p:spPr>
        <p:txBody>
          <a:bodyPr wrap="square" lIns="0" rIns="0" tIns="0" bIns="0" anchor="t"/>
          <a:lstStyle/>
          <a:p>
            <a:pPr algn="l"/>
            <a:r>
              <a:rPr sz="1300" b="1" i="0">
                <a:solidFill>
                  <a:srgbClr val="0F2540"/>
                </a:solidFill>
                <a:latin typeface="Segoe UI"/>
              </a:rPr>
              <a:t>No live visibility</a:t>
            </a:r>
          </a:p>
        </p:txBody>
      </p:sp>
      <p:sp>
        <p:nvSpPr>
          <p:cNvPr id="39" name="TextBox 38"/>
          <p:cNvSpPr txBox="1"/>
          <p:nvPr/>
        </p:nvSpPr>
        <p:spPr>
          <a:xfrm>
            <a:off x="7178040" y="4764024"/>
            <a:ext cx="4297680" cy="658368"/>
          </a:xfrm>
          <a:prstGeom prst="rect">
            <a:avLst/>
          </a:prstGeom>
          <a:noFill/>
        </p:spPr>
        <p:txBody>
          <a:bodyPr wrap="square" lIns="0" rIns="0" tIns="0" bIns="0" anchor="t"/>
          <a:lstStyle/>
          <a:p>
            <a:pPr algn="l"/>
            <a:r>
              <a:rPr sz="1000" b="0" i="0">
                <a:solidFill>
                  <a:srgbClr val="8C9BAB"/>
                </a:solidFill>
                <a:latin typeface="Segoe UI"/>
              </a:rPr>
              <a:t>Long-running jobs give no stream of progress; once started, the tool goes dark until it finishes.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03</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System Architecture</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Three-tier control plane / data plane, plus an outbound-only adapter layer</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4</a:t>
            </a:r>
          </a:p>
        </p:txBody>
      </p:sp>
      <p:sp>
        <p:nvSpPr>
          <p:cNvPr id="10" name="Rounded Rectangle 9"/>
          <p:cNvSpPr/>
          <p:nvPr/>
        </p:nvSpPr>
        <p:spPr>
          <a:xfrm>
            <a:off x="1051560" y="1371600"/>
            <a:ext cx="7040880" cy="4572000"/>
          </a:xfrm>
          <a:prstGeom prst="roundRect">
            <a:avLst>
              <a:gd name="adj" fmla="val 3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1481328"/>
            <a:ext cx="6675120" cy="4389120"/>
          </a:xfrm>
          <a:prstGeom prst="rect">
            <a:avLst/>
          </a:prstGeom>
          <a:noFill/>
        </p:spPr>
        <p:txBody>
          <a:bodyPr wrap="square" lIns="0" rIns="0" tIns="0" bIns="0" anchor="t"/>
          <a:lstStyle/>
          <a:p>
            <a:pPr algn="l">
              <a:spcAft>
                <a:spcPts val="0"/>
              </a:spcAft>
            </a:pPr>
            <a:r>
              <a:rPr sz="860" b="0" i="0">
                <a:solidFill>
                  <a:srgbClr val="D6E2EE"/>
                </a:solidFill>
                <a:latin typeface="Consolas"/>
              </a:rPr>
              <a:t>┌────────────────────────────┐   ┌──────────────────────────────────────┐</a:t>
            </a:r>
          </a:p>
          <a:p>
            <a:pPr algn="l">
              <a:spcAft>
                <a:spcPts val="0"/>
              </a:spcAft>
            </a:pPr>
            <a:r>
              <a:rPr sz="860" b="0" i="0">
                <a:solidFill>
                  <a:srgbClr val="D6E2EE"/>
                </a:solidFill>
                <a:latin typeface="Consolas"/>
              </a:rPr>
              <a:t>│  PromptBreaker.exe         │   │  systemd services (auto-start)       │</a:t>
            </a:r>
          </a:p>
          <a:p>
            <a:pPr algn="l">
              <a:spcAft>
                <a:spcPts val="0"/>
              </a:spcAft>
            </a:pPr>
            <a:r>
              <a:rPr sz="860" b="0" i="0">
                <a:solidFill>
                  <a:srgbClr val="D6E2EE"/>
                </a:solidFill>
                <a:latin typeface="Consolas"/>
              </a:rPr>
              <a:t>│  (Go + WebView2 shell)     │   │                                      │</a:t>
            </a:r>
          </a:p>
          <a:p>
            <a:pPr algn="l">
              <a:spcAft>
                <a:spcPts val="0"/>
              </a:spcAft>
            </a:pPr>
            <a:r>
              <a:rPr sz="860" b="0" i="0">
                <a:solidFill>
                  <a:srgbClr val="D6E2EE"/>
                </a:solidFill>
                <a:latin typeface="Consolas"/>
              </a:rPr>
              <a:t>│        │                   │   │  ┌──────────────┐  ┌──────────────┐  │</a:t>
            </a:r>
          </a:p>
          <a:p>
            <a:pPr algn="l">
              <a:spcAft>
                <a:spcPts val="0"/>
              </a:spcAft>
            </a:pPr>
            <a:r>
              <a:rPr sz="860" b="0" i="0">
                <a:solidFill>
                  <a:srgbClr val="D6E2EE"/>
                </a:solidFill>
                <a:latin typeface="Consolas"/>
              </a:rPr>
              <a:t>│        ▼                   │   │  │ promptbreaker│  │ dashboard    │  │</a:t>
            </a:r>
          </a:p>
          <a:p>
            <a:pPr algn="l">
              <a:spcAft>
                <a:spcPts val="0"/>
              </a:spcAft>
            </a:pPr>
            <a:r>
              <a:rPr sz="860" b="0" i="0">
                <a:solidFill>
                  <a:srgbClr val="D6E2EE"/>
                </a:solidFill>
                <a:latin typeface="Consolas"/>
              </a:rPr>
              <a:t>│  app window ───────────────┼──▶│  │   api :8000  │  │ Next.js :3000│  │</a:t>
            </a:r>
          </a:p>
          <a:p>
            <a:pPr algn="l">
              <a:spcAft>
                <a:spcPts val="0"/>
              </a:spcAft>
            </a:pPr>
            <a:r>
              <a:rPr sz="860" b="0" i="0">
                <a:solidFill>
                  <a:srgbClr val="D6E2EE"/>
                </a:solidFill>
                <a:latin typeface="Consolas"/>
              </a:rPr>
              <a:t>│  localhost:3000            │   │  │  (FastAPI)   │  │  (7 pages)   │  │</a:t>
            </a:r>
          </a:p>
          <a:p>
            <a:pPr algn="l">
              <a:spcAft>
                <a:spcPts val="0"/>
              </a:spcAft>
            </a:pPr>
            <a:r>
              <a:rPr sz="860" b="0" i="0">
                <a:solidFill>
                  <a:srgbClr val="D6E2EE"/>
                </a:solidFill>
                <a:latin typeface="Consolas"/>
              </a:rPr>
              <a:t>└────────────────────────────┘   │  └──────┬───────┘  └──────▲──────┘  │</a:t>
            </a:r>
          </a:p>
          <a:p>
            <a:pPr algn="l">
              <a:spcAft>
                <a:spcPts val="0"/>
              </a:spcAft>
            </a:pPr>
            <a:r>
              <a:rPr sz="860" b="0" i="0">
                <a:solidFill>
                  <a:srgbClr val="D6E2EE"/>
                </a:solidFill>
                <a:latin typeface="Consolas"/>
              </a:rPr>
              <a:t>                                 │      REST / SSE          │          │</a:t>
            </a:r>
          </a:p>
          <a:p>
            <a:pPr algn="l">
              <a:spcAft>
                <a:spcPts val="0"/>
              </a:spcAft>
            </a:pPr>
            <a:r>
              <a:rPr sz="860" b="0" i="0">
                <a:solidFill>
                  <a:srgbClr val="D6E2EE"/>
                </a:solidFill>
                <a:latin typeface="Consolas"/>
              </a:rPr>
              <a:t>                                 │  ┌──────▼───────┐  ┌──────┴──────┐  │</a:t>
            </a:r>
          </a:p>
          <a:p>
            <a:pPr algn="l">
              <a:spcAft>
                <a:spcPts val="0"/>
              </a:spcAft>
            </a:pPr>
            <a:r>
              <a:rPr sz="860" b="0" i="0">
                <a:solidFill>
                  <a:srgbClr val="D6E2EE"/>
                </a:solidFill>
                <a:latin typeface="Consolas"/>
              </a:rPr>
              <a:t>                                 │  │ SQLite /     │  │ event log   │  │</a:t>
            </a:r>
          </a:p>
          <a:p>
            <a:pPr algn="l">
              <a:spcAft>
                <a:spcPts val="0"/>
              </a:spcAft>
            </a:pPr>
            <a:r>
              <a:rPr sz="860" b="0" i="0">
                <a:solidFill>
                  <a:srgbClr val="D6E2EE"/>
                </a:solidFill>
                <a:latin typeface="Consolas"/>
              </a:rPr>
              <a:t>                                 │  │ PostgreSQL   │  │ append-only │  │</a:t>
            </a:r>
          </a:p>
          <a:p>
            <a:pPr algn="l">
              <a:spcAft>
                <a:spcPts val="0"/>
              </a:spcAft>
            </a:pPr>
            <a:r>
              <a:rPr sz="860" b="0" i="0">
                <a:solidFill>
                  <a:srgbClr val="D6E2EE"/>
                </a:solidFill>
                <a:latin typeface="Consolas"/>
              </a:rPr>
              <a:t>                                 │  │  (6 tables)  │  └─────────────┘  │</a:t>
            </a:r>
          </a:p>
          <a:p>
            <a:pPr algn="l">
              <a:spcAft>
                <a:spcPts val="0"/>
              </a:spcAft>
            </a:pPr>
            <a:r>
              <a:rPr sz="860" b="0" i="0">
                <a:solidFill>
                  <a:srgbClr val="D6E2EE"/>
                </a:solidFill>
                <a:latin typeface="Consolas"/>
              </a:rPr>
              <a:t>                                 │  └──────▲───────┘                   │</a:t>
            </a:r>
          </a:p>
          <a:p>
            <a:pPr algn="l">
              <a:spcAft>
                <a:spcPts val="0"/>
              </a:spcAft>
            </a:pPr>
            <a:r>
              <a:rPr sz="860" b="0" i="0">
                <a:solidFill>
                  <a:srgbClr val="D6E2EE"/>
                </a:solidFill>
                <a:latin typeface="Consolas"/>
              </a:rPr>
              <a:t>                                 │    asyncio background run           │</a:t>
            </a:r>
          </a:p>
          <a:p>
            <a:pPr algn="l">
              <a:spcAft>
                <a:spcPts val="0"/>
              </a:spcAft>
            </a:pPr>
            <a:r>
              <a:rPr sz="860" b="0" i="0">
                <a:solidFill>
                  <a:srgbClr val="D6E2EE"/>
                </a:solidFill>
                <a:latin typeface="Consolas"/>
              </a:rPr>
              <a:t>                                 │  ┌──────┴────────────────────────┐   │</a:t>
            </a:r>
          </a:p>
          <a:p>
            <a:pPr algn="l">
              <a:spcAft>
                <a:spcPts val="0"/>
              </a:spcAft>
            </a:pPr>
            <a:r>
              <a:rPr sz="860" b="0" i="0">
                <a:solidFill>
                  <a:srgbClr val="D6E2EE"/>
                </a:solidFill>
                <a:latin typeface="Consolas"/>
              </a:rPr>
              <a:t>                                 │  │ ENGINE (data plane)           │   │</a:t>
            </a:r>
          </a:p>
          <a:p>
            <a:pPr algn="l">
              <a:spcAft>
                <a:spcPts val="0"/>
              </a:spcAft>
            </a:pPr>
            <a:r>
              <a:rPr sz="860" b="0" i="0">
                <a:solidFill>
                  <a:srgbClr val="D6E2EE"/>
                </a:solidFill>
                <a:latin typeface="Consolas"/>
              </a:rPr>
              <a:t>                                 │  │ probes → mutators → judge     │   │</a:t>
            </a:r>
          </a:p>
          <a:p>
            <a:pPr algn="l">
              <a:spcAft>
                <a:spcPts val="0"/>
              </a:spcAft>
            </a:pPr>
            <a:r>
              <a:rPr sz="860" b="0" i="0">
                <a:solidFill>
                  <a:srgbClr val="D6E2EE"/>
                </a:solidFill>
                <a:latin typeface="Consolas"/>
              </a:rPr>
              <a:t>                                 │  │ → scoring → HMAC evidence     │   │</a:t>
            </a:r>
          </a:p>
          <a:p>
            <a:pPr algn="l">
              <a:spcAft>
                <a:spcPts val="0"/>
              </a:spcAft>
            </a:pPr>
            <a:r>
              <a:rPr sz="860" b="0" i="0">
                <a:solidFill>
                  <a:srgbClr val="D6E2EE"/>
                </a:solidFill>
                <a:latin typeface="Consolas"/>
              </a:rPr>
              <a:t>                                 │  └──────┬────────────────────────┘   │</a:t>
            </a:r>
          </a:p>
          <a:p>
            <a:pPr algn="l">
              <a:spcAft>
                <a:spcPts val="0"/>
              </a:spcAft>
            </a:pPr>
            <a:r>
              <a:rPr sz="860" b="0" i="0">
                <a:solidFill>
                  <a:srgbClr val="D6E2EE"/>
                </a:solidFill>
                <a:latin typeface="Consolas"/>
              </a:rPr>
              <a:t>                                 │         │ outbound-only (SSRF guard) │</a:t>
            </a:r>
          </a:p>
          <a:p>
            <a:pPr algn="l">
              <a:spcAft>
                <a:spcPts val="0"/>
              </a:spcAft>
            </a:pPr>
            <a:r>
              <a:rPr sz="860" b="0" i="0">
                <a:solidFill>
                  <a:srgbClr val="D6E2EE"/>
                </a:solidFill>
                <a:latin typeface="Consolas"/>
              </a:rPr>
              <a:t>                                 │         ▼  authorized LLM target     │</a:t>
            </a:r>
          </a:p>
          <a:p>
            <a:pPr algn="l">
              <a:spcAft>
                <a:spcPts val="0"/>
              </a:spcAft>
            </a:pPr>
            <a:r>
              <a:rPr sz="860" b="0" i="0">
                <a:solidFill>
                  <a:srgbClr val="D6E2EE"/>
                </a:solidFill>
                <a:latin typeface="Consolas"/>
              </a:rPr>
              <a:t>                                 └──────────────────────────────────────┘</a:t>
            </a:r>
          </a:p>
        </p:txBody>
      </p:sp>
      <p:sp>
        <p:nvSpPr>
          <p:cNvPr id="12" name="TextBox 11"/>
          <p:cNvSpPr txBox="1"/>
          <p:nvPr/>
        </p:nvSpPr>
        <p:spPr>
          <a:xfrm>
            <a:off x="8366760" y="1325880"/>
            <a:ext cx="3291840" cy="320040"/>
          </a:xfrm>
          <a:prstGeom prst="rect">
            <a:avLst/>
          </a:prstGeom>
          <a:noFill/>
        </p:spPr>
        <p:txBody>
          <a:bodyPr wrap="square" lIns="0" rIns="0" tIns="0" bIns="0" anchor="t"/>
          <a:lstStyle/>
          <a:p>
            <a:pPr algn="l"/>
            <a:r>
              <a:rPr sz="1200" b="1" i="0">
                <a:solidFill>
                  <a:srgbClr val="0F2540"/>
                </a:solidFill>
                <a:latin typeface="Segoe UI"/>
              </a:rPr>
              <a:t>DESIGN PRINCIPLES</a:t>
            </a:r>
          </a:p>
        </p:txBody>
      </p:sp>
      <p:sp>
        <p:nvSpPr>
          <p:cNvPr id="13" name="Rounded Rectangle 12"/>
          <p:cNvSpPr/>
          <p:nvPr/>
        </p:nvSpPr>
        <p:spPr>
          <a:xfrm>
            <a:off x="8366760" y="1737360"/>
            <a:ext cx="329184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66760" y="1737360"/>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1837943"/>
            <a:ext cx="2926080" cy="274320"/>
          </a:xfrm>
          <a:prstGeom prst="rect">
            <a:avLst/>
          </a:prstGeom>
          <a:noFill/>
        </p:spPr>
        <p:txBody>
          <a:bodyPr wrap="square" lIns="0" rIns="0" tIns="0" bIns="0" anchor="t"/>
          <a:lstStyle/>
          <a:p>
            <a:pPr algn="l"/>
            <a:r>
              <a:rPr sz="1100" b="1" i="0">
                <a:solidFill>
                  <a:srgbClr val="0F2540"/>
                </a:solidFill>
                <a:latin typeface="Segoe UI"/>
              </a:rPr>
              <a:t>Fail closed</a:t>
            </a:r>
          </a:p>
        </p:txBody>
      </p:sp>
      <p:sp>
        <p:nvSpPr>
          <p:cNvPr id="16" name="TextBox 15"/>
          <p:cNvSpPr txBox="1"/>
          <p:nvPr/>
        </p:nvSpPr>
        <p:spPr>
          <a:xfrm>
            <a:off x="8549640" y="2112264"/>
            <a:ext cx="2926080" cy="338328"/>
          </a:xfrm>
          <a:prstGeom prst="rect">
            <a:avLst/>
          </a:prstGeom>
          <a:noFill/>
        </p:spPr>
        <p:txBody>
          <a:bodyPr wrap="square" lIns="0" rIns="0" tIns="0" bIns="0" anchor="t"/>
          <a:lstStyle/>
          <a:p>
            <a:pPr algn="l"/>
            <a:r>
              <a:rPr sz="900" b="0" i="0">
                <a:solidFill>
                  <a:srgbClr val="8C9BAB"/>
                </a:solidFill>
                <a:latin typeface="Segoe UI"/>
              </a:rPr>
              <a:t>no attestation, no run — refuse, never warn</a:t>
            </a:r>
          </a:p>
        </p:txBody>
      </p:sp>
      <p:sp>
        <p:nvSpPr>
          <p:cNvPr id="17" name="Rounded Rectangle 16"/>
          <p:cNvSpPr/>
          <p:nvPr/>
        </p:nvSpPr>
        <p:spPr>
          <a:xfrm>
            <a:off x="8366760" y="2596896"/>
            <a:ext cx="329184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66760" y="2596896"/>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2697479"/>
            <a:ext cx="2926080" cy="274320"/>
          </a:xfrm>
          <a:prstGeom prst="rect">
            <a:avLst/>
          </a:prstGeom>
          <a:noFill/>
        </p:spPr>
        <p:txBody>
          <a:bodyPr wrap="square" lIns="0" rIns="0" tIns="0" bIns="0" anchor="t"/>
          <a:lstStyle/>
          <a:p>
            <a:pPr algn="l"/>
            <a:r>
              <a:rPr sz="1100" b="1" i="0">
                <a:solidFill>
                  <a:srgbClr val="0F2540"/>
                </a:solidFill>
                <a:latin typeface="Segoe UI"/>
              </a:rPr>
              <a:t>Quote to convict</a:t>
            </a:r>
          </a:p>
        </p:txBody>
      </p:sp>
      <p:sp>
        <p:nvSpPr>
          <p:cNvPr id="20" name="TextBox 19"/>
          <p:cNvSpPr txBox="1"/>
          <p:nvPr/>
        </p:nvSpPr>
        <p:spPr>
          <a:xfrm>
            <a:off x="8549640" y="2971800"/>
            <a:ext cx="2926080" cy="338328"/>
          </a:xfrm>
          <a:prstGeom prst="rect">
            <a:avLst/>
          </a:prstGeom>
          <a:noFill/>
        </p:spPr>
        <p:txBody>
          <a:bodyPr wrap="square" lIns="0" rIns="0" tIns="0" bIns="0" anchor="t"/>
          <a:lstStyle/>
          <a:p>
            <a:pPr algn="l"/>
            <a:r>
              <a:rPr sz="900" b="0" i="0">
                <a:solidFill>
                  <a:srgbClr val="8C9BAB"/>
                </a:solidFill>
                <a:latin typeface="Segoe UI"/>
              </a:rPr>
              <a:t>a verdict must cite the target’s own words</a:t>
            </a:r>
          </a:p>
        </p:txBody>
      </p:sp>
      <p:sp>
        <p:nvSpPr>
          <p:cNvPr id="21" name="Rounded Rectangle 20"/>
          <p:cNvSpPr/>
          <p:nvPr/>
        </p:nvSpPr>
        <p:spPr>
          <a:xfrm>
            <a:off x="8366760" y="3456432"/>
            <a:ext cx="329184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66760" y="3456432"/>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3557015"/>
            <a:ext cx="2926080" cy="274320"/>
          </a:xfrm>
          <a:prstGeom prst="rect">
            <a:avLst/>
          </a:prstGeom>
          <a:noFill/>
        </p:spPr>
        <p:txBody>
          <a:bodyPr wrap="square" lIns="0" rIns="0" tIns="0" bIns="0" anchor="t"/>
          <a:lstStyle/>
          <a:p>
            <a:pPr algn="l"/>
            <a:r>
              <a:rPr sz="1100" b="1" i="0">
                <a:solidFill>
                  <a:srgbClr val="0F2540"/>
                </a:solidFill>
                <a:latin typeface="Segoe UI"/>
              </a:rPr>
              <a:t>Budgets terminate</a:t>
            </a:r>
          </a:p>
        </p:txBody>
      </p:sp>
      <p:sp>
        <p:nvSpPr>
          <p:cNvPr id="24" name="TextBox 23"/>
          <p:cNvSpPr txBox="1"/>
          <p:nvPr/>
        </p:nvSpPr>
        <p:spPr>
          <a:xfrm>
            <a:off x="8549640" y="3831335"/>
            <a:ext cx="2926080" cy="338328"/>
          </a:xfrm>
          <a:prstGeom prst="rect">
            <a:avLst/>
          </a:prstGeom>
          <a:noFill/>
        </p:spPr>
        <p:txBody>
          <a:bodyPr wrap="square" lIns="0" rIns="0" tIns="0" bIns="0" anchor="t"/>
          <a:lstStyle/>
          <a:p>
            <a:pPr algn="l"/>
            <a:r>
              <a:rPr sz="900" b="0" i="0">
                <a:solidFill>
                  <a:srgbClr val="8C9BAB"/>
                </a:solidFill>
                <a:latin typeface="Segoe UI"/>
              </a:rPr>
              <a:t>every run ends — caps, never unbounded</a:t>
            </a:r>
          </a:p>
        </p:txBody>
      </p:sp>
      <p:sp>
        <p:nvSpPr>
          <p:cNvPr id="25" name="Rounded Rectangle 24"/>
          <p:cNvSpPr/>
          <p:nvPr/>
        </p:nvSpPr>
        <p:spPr>
          <a:xfrm>
            <a:off x="8366760" y="4315968"/>
            <a:ext cx="329184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66760" y="4315968"/>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40" y="4416552"/>
            <a:ext cx="2926080" cy="274320"/>
          </a:xfrm>
          <a:prstGeom prst="rect">
            <a:avLst/>
          </a:prstGeom>
          <a:noFill/>
        </p:spPr>
        <p:txBody>
          <a:bodyPr wrap="square" lIns="0" rIns="0" tIns="0" bIns="0" anchor="t"/>
          <a:lstStyle/>
          <a:p>
            <a:pPr algn="l"/>
            <a:r>
              <a:rPr sz="1100" b="1" i="0">
                <a:solidFill>
                  <a:srgbClr val="0F2540"/>
                </a:solidFill>
                <a:latin typeface="Segoe UI"/>
              </a:rPr>
              <a:t>Deterministic core</a:t>
            </a:r>
          </a:p>
        </p:txBody>
      </p:sp>
      <p:sp>
        <p:nvSpPr>
          <p:cNvPr id="28" name="TextBox 27"/>
          <p:cNvSpPr txBox="1"/>
          <p:nvPr/>
        </p:nvSpPr>
        <p:spPr>
          <a:xfrm>
            <a:off x="8549640" y="4690872"/>
            <a:ext cx="2926080" cy="338328"/>
          </a:xfrm>
          <a:prstGeom prst="rect">
            <a:avLst/>
          </a:prstGeom>
          <a:noFill/>
        </p:spPr>
        <p:txBody>
          <a:bodyPr wrap="square" lIns="0" rIns="0" tIns="0" bIns="0" anchor="t"/>
          <a:lstStyle/>
          <a:p>
            <a:pPr algn="l"/>
            <a:r>
              <a:rPr sz="900" b="0" i="0">
                <a:solidFill>
                  <a:srgbClr val="8C9BAB"/>
                </a:solidFill>
                <a:latin typeface="Segoe UI"/>
              </a:rPr>
              <a:t>seeds, weights and hashing all local</a:t>
            </a:r>
          </a:p>
        </p:txBody>
      </p:sp>
      <p:sp>
        <p:nvSpPr>
          <p:cNvPr id="29" name="Rounded Rectangle 28"/>
          <p:cNvSpPr/>
          <p:nvPr/>
        </p:nvSpPr>
        <p:spPr>
          <a:xfrm>
            <a:off x="8366760" y="5175504"/>
            <a:ext cx="3291840" cy="7772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5175504"/>
            <a:ext cx="64008" cy="77724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49640" y="5276088"/>
            <a:ext cx="2926080" cy="274320"/>
          </a:xfrm>
          <a:prstGeom prst="rect">
            <a:avLst/>
          </a:prstGeom>
          <a:noFill/>
        </p:spPr>
        <p:txBody>
          <a:bodyPr wrap="square" lIns="0" rIns="0" tIns="0" bIns="0" anchor="t"/>
          <a:lstStyle/>
          <a:p>
            <a:pPr algn="l"/>
            <a:r>
              <a:rPr sz="1100" b="1" i="0">
                <a:solidFill>
                  <a:srgbClr val="0F2540"/>
                </a:solidFill>
                <a:latin typeface="Segoe UI"/>
              </a:rPr>
              <a:t>Outbound-only egress</a:t>
            </a:r>
          </a:p>
        </p:txBody>
      </p:sp>
      <p:sp>
        <p:nvSpPr>
          <p:cNvPr id="32" name="TextBox 31"/>
          <p:cNvSpPr txBox="1"/>
          <p:nvPr/>
        </p:nvSpPr>
        <p:spPr>
          <a:xfrm>
            <a:off x="8549640" y="5550408"/>
            <a:ext cx="2926080" cy="338328"/>
          </a:xfrm>
          <a:prstGeom prst="rect">
            <a:avLst/>
          </a:prstGeom>
          <a:noFill/>
        </p:spPr>
        <p:txBody>
          <a:bodyPr wrap="square" lIns="0" rIns="0" tIns="0" bIns="0" anchor="t"/>
          <a:lstStyle/>
          <a:p>
            <a:pPr algn="l"/>
            <a:r>
              <a:rPr sz="900" b="0" i="0">
                <a:solidFill>
                  <a:srgbClr val="8C9BAB"/>
                </a:solidFill>
                <a:latin typeface="Segoe UI"/>
              </a:rPr>
              <a:t>adapters read nothing internal; SSRF-guarded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04</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Attack Pipeline &amp; Test Suites</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The engine pipeline runs plan → execute → judge → mutate → report</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5</a:t>
            </a:r>
          </a:p>
        </p:txBody>
      </p:sp>
      <p:graphicFrame>
        <p:nvGraphicFramePr>
          <p:cNvPr id="10" name="Table 9"/>
          <p:cNvGraphicFramePr>
            <a:graphicFrameLocks noGrp="1"/>
          </p:cNvGraphicFramePr>
          <p:nvPr/>
        </p:nvGraphicFramePr>
        <p:xfrm>
          <a:off x="1051560" y="1371600"/>
          <a:ext cx="10607040" cy="2743200"/>
        </p:xfrm>
        <a:graphic>
          <a:graphicData uri="http://schemas.openxmlformats.org/drawingml/2006/table">
            <a:tbl>
              <a:tblPr firstRow="1">
                <a:tableStyleId>{5C22544A-7EE6-4342-B048-85BDC9FD1C3A}</a:tableStyleId>
              </a:tblPr>
              <a:tblGrid>
                <a:gridCol w="457200"/>
                <a:gridCol w="1371600"/>
                <a:gridCol w="4389120"/>
                <a:gridCol w="4389120"/>
              </a:tblGrid>
              <a:tr h="457200">
                <a:tc>
                  <a:txBody>
                    <a:bodyPr wrap="square"/>
                    <a:lstStyle/>
                    <a:p>
                      <a:r>
                        <a:rPr sz="1000" b="1">
                          <a:solidFill>
                            <a:srgbClr val="FFFFFF"/>
                          </a:solidFill>
                          <a:latin typeface="Segoe UI"/>
                        </a:rPr>
                        <a:t>#</a:t>
                      </a:r>
                    </a:p>
                  </a:txBody>
                  <a:tcPr marL="82296" marR="82296" marT="27432" marB="27432" anchor="ctr">
                    <a:solidFill>
                      <a:srgbClr val="0F2540"/>
                    </a:solidFill>
                  </a:tcPr>
                </a:tc>
                <a:tc>
                  <a:txBody>
                    <a:bodyPr wrap="square"/>
                    <a:lstStyle/>
                    <a:p>
                      <a:r>
                        <a:rPr sz="1000" b="1">
                          <a:solidFill>
                            <a:srgbClr val="FFFFFF"/>
                          </a:solidFill>
                          <a:latin typeface="Segoe UI"/>
                        </a:rPr>
                        <a:t>Phase</a:t>
                      </a:r>
                    </a:p>
                  </a:txBody>
                  <a:tcPr marL="82296" marR="82296" marT="27432" marB="27432" anchor="ctr">
                    <a:solidFill>
                      <a:srgbClr val="0F2540"/>
                    </a:solidFill>
                  </a:tcPr>
                </a:tc>
                <a:tc>
                  <a:txBody>
                    <a:bodyPr wrap="square"/>
                    <a:lstStyle/>
                    <a:p>
                      <a:r>
                        <a:rPr sz="1000" b="1">
                          <a:solidFill>
                            <a:srgbClr val="FFFFFF"/>
                          </a:solidFill>
                          <a:latin typeface="Segoe UI"/>
                        </a:rPr>
                        <a:t>What happens</a:t>
                      </a:r>
                    </a:p>
                  </a:txBody>
                  <a:tcPr marL="82296" marR="82296" marT="27432" marB="27432" anchor="ctr">
                    <a:solidFill>
                      <a:srgbClr val="0F2540"/>
                    </a:solidFill>
                  </a:tcPr>
                </a:tc>
                <a:tc>
                  <a:txBody>
                    <a:bodyPr wrap="square"/>
                    <a:lstStyle/>
                    <a:p>
                      <a:r>
                        <a:rPr sz="1000" b="1">
                          <a:solidFill>
                            <a:srgbClr val="FFFFFF"/>
                          </a:solidFill>
                          <a:latin typeface="Segoe UI"/>
                        </a:rPr>
                        <a:t>Logic</a:t>
                      </a:r>
                    </a:p>
                  </a:txBody>
                  <a:tcPr marL="82296" marR="82296" marT="27432" marB="27432" anchor="ctr">
                    <a:solidFill>
                      <a:srgbClr val="0F2540"/>
                    </a:solidFill>
                  </a:tcPr>
                </a:tc>
              </a:tr>
              <a:tr h="457200">
                <a:tc>
                  <a:txBody>
                    <a:bodyPr wrap="square"/>
                    <a:lstStyle/>
                    <a:p>
                      <a:r>
                        <a:rPr sz="950" b="0">
                          <a:solidFill>
                            <a:srgbClr val="141B26"/>
                          </a:solidFill>
                          <a:latin typeface="Segoe UI"/>
                        </a:rPr>
                        <a:t>1</a:t>
                      </a:r>
                    </a:p>
                  </a:txBody>
                  <a:tcPr marL="82296" marR="82296" marT="27432" marB="27432" anchor="ctr">
                    <a:solidFill>
                      <a:srgbClr val="FFFFFF"/>
                    </a:solidFill>
                  </a:tcPr>
                </a:tc>
                <a:tc>
                  <a:txBody>
                    <a:bodyPr wrap="square"/>
                    <a:lstStyle/>
                    <a:p>
                      <a:r>
                        <a:rPr sz="950" b="0">
                          <a:solidFill>
                            <a:srgbClr val="141B26"/>
                          </a:solidFill>
                          <a:latin typeface="Segoe UI"/>
                        </a:rPr>
                        <a:t>plan</a:t>
                      </a:r>
                    </a:p>
                  </a:txBody>
                  <a:tcPr marL="82296" marR="82296" marT="27432" marB="27432" anchor="ctr">
                    <a:solidFill>
                      <a:srgbClr val="FFFFFF"/>
                    </a:solidFill>
                  </a:tcPr>
                </a:tc>
                <a:tc>
                  <a:txBody>
                    <a:bodyPr wrap="square"/>
                    <a:lstStyle/>
                    <a:p>
                      <a:r>
                        <a:rPr sz="950" b="0">
                          <a:solidFill>
                            <a:srgbClr val="141B26"/>
                          </a:solidFill>
                          <a:latin typeface="Segoe UI"/>
                        </a:rPr>
                        <a:t>Select suite, expand probes, charge budget</a:t>
                      </a:r>
                    </a:p>
                  </a:txBody>
                  <a:tcPr marL="82296" marR="82296" marT="27432" marB="27432" anchor="ctr">
                    <a:solidFill>
                      <a:srgbClr val="FFFFFF"/>
                    </a:solidFill>
                  </a:tcPr>
                </a:tc>
                <a:tc>
                  <a:txBody>
                    <a:bodyPr wrap="square"/>
                    <a:lstStyle/>
                    <a:p>
                      <a:r>
                        <a:rPr sz="950" b="0">
                          <a:solidFill>
                            <a:srgbClr val="141B26"/>
                          </a:solidFill>
                          <a:latin typeface="Segoe UI"/>
                        </a:rPr>
                        <a:t>core / quick / jailbreak / privacy / agency / safety</a:t>
                      </a:r>
                    </a:p>
                  </a:txBody>
                  <a:tcPr marL="82296" marR="82296" marT="27432" marB="27432" anchor="ctr">
                    <a:solidFill>
                      <a:srgbClr val="FFFFFF"/>
                    </a:solidFill>
                  </a:tcPr>
                </a:tc>
              </a:tr>
              <a:tr h="457200">
                <a:tc>
                  <a:txBody>
                    <a:bodyPr wrap="square"/>
                    <a:lstStyle/>
                    <a:p>
                      <a:r>
                        <a:rPr sz="950" b="0">
                          <a:solidFill>
                            <a:srgbClr val="141B26"/>
                          </a:solidFill>
                          <a:latin typeface="Segoe UI"/>
                        </a:rPr>
                        <a:t>2</a:t>
                      </a:r>
                    </a:p>
                  </a:txBody>
                  <a:tcPr marL="82296" marR="82296" marT="27432" marB="27432" anchor="ctr">
                    <a:solidFill>
                      <a:srgbClr val="EEF3F8"/>
                    </a:solidFill>
                  </a:tcPr>
                </a:tc>
                <a:tc>
                  <a:txBody>
                    <a:bodyPr wrap="square"/>
                    <a:lstStyle/>
                    <a:p>
                      <a:r>
                        <a:rPr sz="950" b="0">
                          <a:solidFill>
                            <a:srgbClr val="141B26"/>
                          </a:solidFill>
                          <a:latin typeface="Segoe UI"/>
                        </a:rPr>
                        <a:t>execute</a:t>
                      </a:r>
                    </a:p>
                  </a:txBody>
                  <a:tcPr marL="82296" marR="82296" marT="27432" marB="27432" anchor="ctr">
                    <a:solidFill>
                      <a:srgbClr val="EEF3F8"/>
                    </a:solidFill>
                  </a:tcPr>
                </a:tc>
                <a:tc>
                  <a:txBody>
                    <a:bodyPr wrap="square"/>
                    <a:lstStyle/>
                    <a:p>
                      <a:r>
                        <a:rPr sz="950" b="0">
                          <a:solidFill>
                            <a:srgbClr val="141B26"/>
                          </a:solidFill>
                          <a:latin typeface="Segoe UI"/>
                        </a:rPr>
                        <a:t>Send each probe through the target adapter</a:t>
                      </a:r>
                    </a:p>
                  </a:txBody>
                  <a:tcPr marL="82296" marR="82296" marT="27432" marB="27432" anchor="ctr">
                    <a:solidFill>
                      <a:srgbClr val="EEF3F8"/>
                    </a:solidFill>
                  </a:tcPr>
                </a:tc>
                <a:tc>
                  <a:txBody>
                    <a:bodyPr wrap="square"/>
                    <a:lstStyle/>
                    <a:p>
                      <a:r>
                        <a:rPr sz="950" b="0">
                          <a:solidFill>
                            <a:srgbClr val="141B26"/>
                          </a:solidFill>
                          <a:latin typeface="Segoe UI"/>
                        </a:rPr>
                        <a:t>httpx; SSRF-validated egress; redirect caps honoured</a:t>
                      </a:r>
                    </a:p>
                  </a:txBody>
                  <a:tcPr marL="82296" marR="82296" marT="27432" marB="27432" anchor="ctr">
                    <a:solidFill>
                      <a:srgbClr val="EEF3F8"/>
                    </a:solidFill>
                  </a:tcPr>
                </a:tc>
              </a:tr>
              <a:tr h="457200">
                <a:tc>
                  <a:txBody>
                    <a:bodyPr wrap="square"/>
                    <a:lstStyle/>
                    <a:p>
                      <a:r>
                        <a:rPr sz="950" b="0">
                          <a:solidFill>
                            <a:srgbClr val="141B26"/>
                          </a:solidFill>
                          <a:latin typeface="Segoe UI"/>
                        </a:rPr>
                        <a:t>3</a:t>
                      </a:r>
                    </a:p>
                  </a:txBody>
                  <a:tcPr marL="82296" marR="82296" marT="27432" marB="27432" anchor="ctr">
                    <a:solidFill>
                      <a:srgbClr val="FFFFFF"/>
                    </a:solidFill>
                  </a:tcPr>
                </a:tc>
                <a:tc>
                  <a:txBody>
                    <a:bodyPr wrap="square"/>
                    <a:lstStyle/>
                    <a:p>
                      <a:r>
                        <a:rPr sz="950" b="0">
                          <a:solidFill>
                            <a:srgbClr val="141B26"/>
                          </a:solidFill>
                          <a:latin typeface="Segoe UI"/>
                        </a:rPr>
                        <a:t>judge</a:t>
                      </a:r>
                    </a:p>
                  </a:txBody>
                  <a:tcPr marL="82296" marR="82296" marT="27432" marB="27432" anchor="ctr">
                    <a:solidFill>
                      <a:srgbClr val="FFFFFF"/>
                    </a:solidFill>
                  </a:tcPr>
                </a:tc>
                <a:tc>
                  <a:txBody>
                    <a:bodyPr wrap="square"/>
                    <a:lstStyle/>
                    <a:p>
                      <a:r>
                        <a:rPr sz="950" b="0">
                          <a:solidFill>
                            <a:srgbClr val="141B26"/>
                          </a:solidFill>
                          <a:latin typeface="Segoe UI"/>
                        </a:rPr>
                        <a:t>Deterministic prefilter, then optional LLM judge</a:t>
                      </a:r>
                    </a:p>
                  </a:txBody>
                  <a:tcPr marL="82296" marR="82296" marT="27432" marB="27432" anchor="ctr">
                    <a:solidFill>
                      <a:srgbClr val="FFFFFF"/>
                    </a:solidFill>
                  </a:tcPr>
                </a:tc>
                <a:tc>
                  <a:txBody>
                    <a:bodyPr wrap="square"/>
                    <a:lstStyle/>
                    <a:p>
                      <a:r>
                        <a:rPr sz="950" b="0">
                          <a:solidFill>
                            <a:srgbClr val="141B26"/>
                          </a:solidFill>
                          <a:latin typeface="Segoe UI"/>
                        </a:rPr>
                        <a:t>canary, refusal markers, verbatim-quote hard rule</a:t>
                      </a:r>
                    </a:p>
                  </a:txBody>
                  <a:tcPr marL="82296" marR="82296" marT="27432" marB="27432" anchor="ctr">
                    <a:solidFill>
                      <a:srgbClr val="FFFFFF"/>
                    </a:solidFill>
                  </a:tcPr>
                </a:tc>
              </a:tr>
              <a:tr h="457200">
                <a:tc>
                  <a:txBody>
                    <a:bodyPr wrap="square"/>
                    <a:lstStyle/>
                    <a:p>
                      <a:r>
                        <a:rPr sz="950" b="0">
                          <a:solidFill>
                            <a:srgbClr val="141B26"/>
                          </a:solidFill>
                          <a:latin typeface="Segoe UI"/>
                        </a:rPr>
                        <a:t>4</a:t>
                      </a:r>
                    </a:p>
                  </a:txBody>
                  <a:tcPr marL="82296" marR="82296" marT="27432" marB="27432" anchor="ctr">
                    <a:solidFill>
                      <a:srgbClr val="EEF3F8"/>
                    </a:solidFill>
                  </a:tcPr>
                </a:tc>
                <a:tc>
                  <a:txBody>
                    <a:bodyPr wrap="square"/>
                    <a:lstStyle/>
                    <a:p>
                      <a:r>
                        <a:rPr sz="950" b="0">
                          <a:solidFill>
                            <a:srgbClr val="141B26"/>
                          </a:solidFill>
                          <a:latin typeface="Segoe UI"/>
                        </a:rPr>
                        <a:t>mutate</a:t>
                      </a:r>
                    </a:p>
                  </a:txBody>
                  <a:tcPr marL="82296" marR="82296" marT="27432" marB="27432" anchor="ctr">
                    <a:solidFill>
                      <a:srgbClr val="EEF3F8"/>
                    </a:solidFill>
                  </a:tcPr>
                </a:tc>
                <a:tc>
                  <a:txBody>
                    <a:bodyPr wrap="square"/>
                    <a:lstStyle/>
                    <a:p>
                      <a:r>
                        <a:rPr sz="950" b="0">
                          <a:solidFill>
                            <a:srgbClr val="141B26"/>
                          </a:solidFill>
                          <a:latin typeface="Segoe UI"/>
                        </a:rPr>
                        <a:t>Rewrite payloads to dodge naive defenses</a:t>
                      </a:r>
                    </a:p>
                  </a:txBody>
                  <a:tcPr marL="82296" marR="82296" marT="27432" marB="27432" anchor="ctr">
                    <a:solidFill>
                      <a:srgbClr val="EEF3F8"/>
                    </a:solidFill>
                  </a:tcPr>
                </a:tc>
                <a:tc>
                  <a:txBody>
                    <a:bodyPr wrap="square"/>
                    <a:lstStyle/>
                    <a:p>
                      <a:r>
                        <a:rPr sz="950" b="0">
                          <a:solidFill>
                            <a:srgbClr val="141B26"/>
                          </a:solidFill>
                          <a:latin typeface="Segoe UI"/>
                        </a:rPr>
                        <a:t>6 deterministic mutators, ≤ 8 per probe, seeded</a:t>
                      </a:r>
                    </a:p>
                  </a:txBody>
                  <a:tcPr marL="82296" marR="82296" marT="27432" marB="27432" anchor="ctr">
                    <a:solidFill>
                      <a:srgbClr val="EEF3F8"/>
                    </a:solidFill>
                  </a:tcPr>
                </a:tc>
              </a:tr>
              <a:tr h="457200">
                <a:tc>
                  <a:txBody>
                    <a:bodyPr wrap="square"/>
                    <a:lstStyle/>
                    <a:p>
                      <a:r>
                        <a:rPr sz="950" b="0">
                          <a:solidFill>
                            <a:srgbClr val="141B26"/>
                          </a:solidFill>
                          <a:latin typeface="Segoe UI"/>
                        </a:rPr>
                        <a:t>5</a:t>
                      </a:r>
                    </a:p>
                  </a:txBody>
                  <a:tcPr marL="82296" marR="82296" marT="27432" marB="27432" anchor="ctr">
                    <a:solidFill>
                      <a:srgbClr val="FFFFFF"/>
                    </a:solidFill>
                  </a:tcPr>
                </a:tc>
                <a:tc>
                  <a:txBody>
                    <a:bodyPr wrap="square"/>
                    <a:lstStyle/>
                    <a:p>
                      <a:r>
                        <a:rPr sz="950" b="0">
                          <a:solidFill>
                            <a:srgbClr val="141B26"/>
                          </a:solidFill>
                          <a:latin typeface="Segoe UI"/>
                        </a:rPr>
                        <a:t>report</a:t>
                      </a:r>
                    </a:p>
                  </a:txBody>
                  <a:tcPr marL="82296" marR="82296" marT="27432" marB="27432" anchor="ctr">
                    <a:solidFill>
                      <a:srgbClr val="FFFFFF"/>
                    </a:solidFill>
                  </a:tcPr>
                </a:tc>
                <a:tc>
                  <a:txBody>
                    <a:bodyPr wrap="square"/>
                    <a:lstStyle/>
                    <a:p>
                      <a:r>
                        <a:rPr sz="950" b="0">
                          <a:solidFill>
                            <a:srgbClr val="141B26"/>
                          </a:solidFill>
                          <a:latin typeface="Segoe UI"/>
                        </a:rPr>
                        <a:t>Score, map, chain, persist, emit run.finished</a:t>
                      </a:r>
                    </a:p>
                  </a:txBody>
                  <a:tcPr marL="82296" marR="82296" marT="27432" marB="27432" anchor="ctr">
                    <a:solidFill>
                      <a:srgbClr val="FFFFFF"/>
                    </a:solidFill>
                  </a:tcPr>
                </a:tc>
                <a:tc>
                  <a:txBody>
                    <a:bodyPr wrap="square"/>
                    <a:lstStyle/>
                    <a:p>
                      <a:r>
                        <a:rPr sz="950" b="0">
                          <a:solidFill>
                            <a:srgbClr val="141B26"/>
                          </a:solidFill>
                          <a:latin typeface="Segoe UI"/>
                        </a:rPr>
                        <a:t>weighted score, OWASP / NIST, HMAC evidence chain</a:t>
                      </a:r>
                    </a:p>
                  </a:txBody>
                  <a:tcPr marL="82296" marR="82296" marT="27432" marB="27432" anchor="ctr">
                    <a:solidFill>
                      <a:srgbClr val="FFFFFF"/>
                    </a:solidFill>
                  </a:tcPr>
                </a:tc>
              </a:tr>
            </a:tbl>
          </a:graphicData>
        </a:graphic>
      </p:graphicFrame>
      <p:sp>
        <p:nvSpPr>
          <p:cNvPr id="11" name="Rounded Rectangle 10"/>
          <p:cNvSpPr/>
          <p:nvPr/>
        </p:nvSpPr>
        <p:spPr>
          <a:xfrm>
            <a:off x="1051560" y="434340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 y="4343400"/>
            <a:ext cx="3401568" cy="8229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2728" y="4489704"/>
            <a:ext cx="2999232" cy="320040"/>
          </a:xfrm>
          <a:prstGeom prst="rect">
            <a:avLst/>
          </a:prstGeom>
          <a:noFill/>
        </p:spPr>
        <p:txBody>
          <a:bodyPr wrap="square" lIns="0" rIns="0" tIns="0" bIns="0" anchor="t"/>
          <a:lstStyle/>
          <a:p>
            <a:pPr algn="l"/>
            <a:r>
              <a:rPr sz="1300" b="1" i="0">
                <a:solidFill>
                  <a:srgbClr val="0F2540"/>
                </a:solidFill>
                <a:latin typeface="Consolas"/>
              </a:rPr>
              <a:t>core</a:t>
            </a:r>
            <a:r>
              <a:rPr sz="1000" b="0" i="0">
                <a:solidFill>
                  <a:srgbClr val="8C9BAB"/>
                </a:solidFill>
                <a:latin typeface="Consolas"/>
              </a:rPr>
              <a:t>   (12 probes)</a:t>
            </a:r>
          </a:p>
        </p:txBody>
      </p:sp>
      <p:sp>
        <p:nvSpPr>
          <p:cNvPr id="14" name="TextBox 13"/>
          <p:cNvSpPr txBox="1"/>
          <p:nvPr/>
        </p:nvSpPr>
        <p:spPr>
          <a:xfrm>
            <a:off x="1252728" y="4800600"/>
            <a:ext cx="2999232" cy="411480"/>
          </a:xfrm>
          <a:prstGeom prst="rect">
            <a:avLst/>
          </a:prstGeom>
          <a:noFill/>
        </p:spPr>
        <p:txBody>
          <a:bodyPr wrap="square" lIns="0" rIns="0" tIns="0" bIns="0" anchor="t"/>
          <a:lstStyle/>
          <a:p>
            <a:pPr algn="l"/>
            <a:r>
              <a:rPr sz="950" b="0" i="0">
                <a:solidFill>
                  <a:srgbClr val="8C9BAB"/>
                </a:solidFill>
                <a:latin typeface="Segoe UI"/>
              </a:rPr>
              <a:t>Full suite — every probe across all nine categories</a:t>
            </a:r>
          </a:p>
        </p:txBody>
      </p:sp>
      <p:sp>
        <p:nvSpPr>
          <p:cNvPr id="15" name="Rounded Rectangle 14"/>
          <p:cNvSpPr/>
          <p:nvPr/>
        </p:nvSpPr>
        <p:spPr>
          <a:xfrm>
            <a:off x="4654296" y="434340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54296" y="4343400"/>
            <a:ext cx="3401568" cy="8229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55464" y="4489704"/>
            <a:ext cx="2999232" cy="320040"/>
          </a:xfrm>
          <a:prstGeom prst="rect">
            <a:avLst/>
          </a:prstGeom>
          <a:noFill/>
        </p:spPr>
        <p:txBody>
          <a:bodyPr wrap="square" lIns="0" rIns="0" tIns="0" bIns="0" anchor="t"/>
          <a:lstStyle/>
          <a:p>
            <a:pPr algn="l"/>
            <a:r>
              <a:rPr sz="1300" b="1" i="0">
                <a:solidFill>
                  <a:srgbClr val="0F2540"/>
                </a:solidFill>
                <a:latin typeface="Consolas"/>
              </a:rPr>
              <a:t>quick</a:t>
            </a:r>
            <a:r>
              <a:rPr sz="1000" b="0" i="0">
                <a:solidFill>
                  <a:srgbClr val="8C9BAB"/>
                </a:solidFill>
                <a:latin typeface="Consolas"/>
              </a:rPr>
              <a:t>   (4 probes)</a:t>
            </a:r>
          </a:p>
        </p:txBody>
      </p:sp>
      <p:sp>
        <p:nvSpPr>
          <p:cNvPr id="18" name="TextBox 17"/>
          <p:cNvSpPr txBox="1"/>
          <p:nvPr/>
        </p:nvSpPr>
        <p:spPr>
          <a:xfrm>
            <a:off x="4855464" y="4800600"/>
            <a:ext cx="2999232" cy="411480"/>
          </a:xfrm>
          <a:prstGeom prst="rect">
            <a:avLst/>
          </a:prstGeom>
          <a:noFill/>
        </p:spPr>
        <p:txBody>
          <a:bodyPr wrap="square" lIns="0" rIns="0" tIns="0" bIns="0" anchor="t"/>
          <a:lstStyle/>
          <a:p>
            <a:pPr algn="l"/>
            <a:r>
              <a:rPr sz="950" b="0" i="0">
                <a:solidFill>
                  <a:srgbClr val="8C9BAB"/>
                </a:solidFill>
                <a:latin typeface="Segoe UI"/>
              </a:rPr>
              <a:t>Smoke run: PI-001, SI-001, AG-001, OX-001 in ~20 s</a:t>
            </a:r>
          </a:p>
        </p:txBody>
      </p:sp>
      <p:sp>
        <p:nvSpPr>
          <p:cNvPr id="19" name="Rounded Rectangle 18"/>
          <p:cNvSpPr/>
          <p:nvPr/>
        </p:nvSpPr>
        <p:spPr>
          <a:xfrm>
            <a:off x="8257031" y="434340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7031" y="4343400"/>
            <a:ext cx="3401568" cy="8229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4489704"/>
            <a:ext cx="2999232" cy="320040"/>
          </a:xfrm>
          <a:prstGeom prst="rect">
            <a:avLst/>
          </a:prstGeom>
          <a:noFill/>
        </p:spPr>
        <p:txBody>
          <a:bodyPr wrap="square" lIns="0" rIns="0" tIns="0" bIns="0" anchor="t"/>
          <a:lstStyle/>
          <a:p>
            <a:pPr algn="l"/>
            <a:r>
              <a:rPr sz="1300" b="1" i="0">
                <a:solidFill>
                  <a:srgbClr val="0F2540"/>
                </a:solidFill>
                <a:latin typeface="Consolas"/>
              </a:rPr>
              <a:t>jailbreak</a:t>
            </a:r>
            <a:r>
              <a:rPr sz="1000" b="0" i="0">
                <a:solidFill>
                  <a:srgbClr val="8C9BAB"/>
                </a:solidFill>
                <a:latin typeface="Consolas"/>
              </a:rPr>
              <a:t>   (4 probes)</a:t>
            </a:r>
          </a:p>
        </p:txBody>
      </p:sp>
      <p:sp>
        <p:nvSpPr>
          <p:cNvPr id="22" name="TextBox 21"/>
          <p:cNvSpPr txBox="1"/>
          <p:nvPr/>
        </p:nvSpPr>
        <p:spPr>
          <a:xfrm>
            <a:off x="8458200" y="4800600"/>
            <a:ext cx="2999232" cy="411480"/>
          </a:xfrm>
          <a:prstGeom prst="rect">
            <a:avLst/>
          </a:prstGeom>
          <a:noFill/>
        </p:spPr>
        <p:txBody>
          <a:bodyPr wrap="square" lIns="0" rIns="0" tIns="0" bIns="0" anchor="t"/>
          <a:lstStyle/>
          <a:p>
            <a:pPr algn="l"/>
            <a:r>
              <a:rPr sz="950" b="0" i="0">
                <a:solidFill>
                  <a:srgbClr val="8C9BAB"/>
                </a:solidFill>
                <a:latin typeface="Segoe UI"/>
              </a:rPr>
              <a:t>Instruction override, role-play, encoding, indirect injection</a:t>
            </a:r>
          </a:p>
        </p:txBody>
      </p:sp>
      <p:sp>
        <p:nvSpPr>
          <p:cNvPr id="23" name="Rounded Rectangle 22"/>
          <p:cNvSpPr/>
          <p:nvPr/>
        </p:nvSpPr>
        <p:spPr>
          <a:xfrm>
            <a:off x="1051560" y="539496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5394960"/>
            <a:ext cx="3401568" cy="8229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52728" y="5541264"/>
            <a:ext cx="2999232" cy="320040"/>
          </a:xfrm>
          <a:prstGeom prst="rect">
            <a:avLst/>
          </a:prstGeom>
          <a:noFill/>
        </p:spPr>
        <p:txBody>
          <a:bodyPr wrap="square" lIns="0" rIns="0" tIns="0" bIns="0" anchor="t"/>
          <a:lstStyle/>
          <a:p>
            <a:pPr algn="l"/>
            <a:r>
              <a:rPr sz="1300" b="1" i="0">
                <a:solidFill>
                  <a:srgbClr val="0F2540"/>
                </a:solidFill>
                <a:latin typeface="Consolas"/>
              </a:rPr>
              <a:t>privacy</a:t>
            </a:r>
            <a:r>
              <a:rPr sz="1000" b="0" i="0">
                <a:solidFill>
                  <a:srgbClr val="8C9BAB"/>
                </a:solidFill>
                <a:latin typeface="Consolas"/>
              </a:rPr>
              <a:t>   (3 probes)</a:t>
            </a:r>
          </a:p>
        </p:txBody>
      </p:sp>
      <p:sp>
        <p:nvSpPr>
          <p:cNvPr id="26" name="TextBox 25"/>
          <p:cNvSpPr txBox="1"/>
          <p:nvPr/>
        </p:nvSpPr>
        <p:spPr>
          <a:xfrm>
            <a:off x="1252728" y="5852160"/>
            <a:ext cx="2999232" cy="411480"/>
          </a:xfrm>
          <a:prstGeom prst="rect">
            <a:avLst/>
          </a:prstGeom>
          <a:noFill/>
        </p:spPr>
        <p:txBody>
          <a:bodyPr wrap="square" lIns="0" rIns="0" tIns="0" bIns="0" anchor="t"/>
          <a:lstStyle/>
          <a:p>
            <a:pPr algn="l"/>
            <a:r>
              <a:rPr sz="950" b="0" i="0">
                <a:solidFill>
                  <a:srgbClr val="8C9BAB"/>
                </a:solidFill>
                <a:latin typeface="Segoe UI"/>
              </a:rPr>
              <a:t>System-prompt disclosure, PII exfiltration, document injection</a:t>
            </a:r>
          </a:p>
        </p:txBody>
      </p:sp>
      <p:sp>
        <p:nvSpPr>
          <p:cNvPr id="27" name="Rounded Rectangle 26"/>
          <p:cNvSpPr/>
          <p:nvPr/>
        </p:nvSpPr>
        <p:spPr>
          <a:xfrm>
            <a:off x="4654296" y="539496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54296" y="5394960"/>
            <a:ext cx="3401568" cy="8229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5464" y="5541264"/>
            <a:ext cx="2999232" cy="320040"/>
          </a:xfrm>
          <a:prstGeom prst="rect">
            <a:avLst/>
          </a:prstGeom>
          <a:noFill/>
        </p:spPr>
        <p:txBody>
          <a:bodyPr wrap="square" lIns="0" rIns="0" tIns="0" bIns="0" anchor="t"/>
          <a:lstStyle/>
          <a:p>
            <a:pPr algn="l"/>
            <a:r>
              <a:rPr sz="1300" b="1" i="0">
                <a:solidFill>
                  <a:srgbClr val="0F2540"/>
                </a:solidFill>
                <a:latin typeface="Consolas"/>
              </a:rPr>
              <a:t>agency</a:t>
            </a:r>
            <a:r>
              <a:rPr sz="1000" b="0" i="0">
                <a:solidFill>
                  <a:srgbClr val="8C9BAB"/>
                </a:solidFill>
                <a:latin typeface="Consolas"/>
              </a:rPr>
              <a:t>   (3 probes)</a:t>
            </a:r>
          </a:p>
        </p:txBody>
      </p:sp>
      <p:sp>
        <p:nvSpPr>
          <p:cNvPr id="30" name="TextBox 29"/>
          <p:cNvSpPr txBox="1"/>
          <p:nvPr/>
        </p:nvSpPr>
        <p:spPr>
          <a:xfrm>
            <a:off x="4855464" y="5852160"/>
            <a:ext cx="2999232" cy="411480"/>
          </a:xfrm>
          <a:prstGeom prst="rect">
            <a:avLst/>
          </a:prstGeom>
          <a:noFill/>
        </p:spPr>
        <p:txBody>
          <a:bodyPr wrap="square" lIns="0" rIns="0" tIns="0" bIns="0" anchor="t"/>
          <a:lstStyle/>
          <a:p>
            <a:pPr algn="l"/>
            <a:r>
              <a:rPr sz="950" b="0" i="0">
                <a:solidFill>
                  <a:srgbClr val="8C9BAB"/>
                </a:solidFill>
                <a:latin typeface="Segoe UI"/>
              </a:rPr>
              <a:t>Destructive action, tool escalation, context-window flood</a:t>
            </a:r>
          </a:p>
        </p:txBody>
      </p:sp>
      <p:sp>
        <p:nvSpPr>
          <p:cNvPr id="31" name="Rounded Rectangle 30"/>
          <p:cNvSpPr/>
          <p:nvPr/>
        </p:nvSpPr>
        <p:spPr>
          <a:xfrm>
            <a:off x="8257031" y="5394960"/>
            <a:ext cx="3401568"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57031" y="5394960"/>
            <a:ext cx="3401568" cy="82296"/>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58200" y="5541264"/>
            <a:ext cx="2999232" cy="320040"/>
          </a:xfrm>
          <a:prstGeom prst="rect">
            <a:avLst/>
          </a:prstGeom>
          <a:noFill/>
        </p:spPr>
        <p:txBody>
          <a:bodyPr wrap="square" lIns="0" rIns="0" tIns="0" bIns="0" anchor="t"/>
          <a:lstStyle/>
          <a:p>
            <a:pPr algn="l"/>
            <a:r>
              <a:rPr sz="1300" b="1" i="0">
                <a:solidFill>
                  <a:srgbClr val="0F2540"/>
                </a:solidFill>
                <a:latin typeface="Consolas"/>
              </a:rPr>
              <a:t>safety</a:t>
            </a:r>
            <a:r>
              <a:rPr sz="1000" b="0" i="0">
                <a:solidFill>
                  <a:srgbClr val="8C9BAB"/>
                </a:solidFill>
                <a:latin typeface="Consolas"/>
              </a:rPr>
              <a:t>   (3 probes)</a:t>
            </a:r>
          </a:p>
        </p:txBody>
      </p:sp>
      <p:sp>
        <p:nvSpPr>
          <p:cNvPr id="34" name="TextBox 33"/>
          <p:cNvSpPr txBox="1"/>
          <p:nvPr/>
        </p:nvSpPr>
        <p:spPr>
          <a:xfrm>
            <a:off x="8458200" y="5852160"/>
            <a:ext cx="2999232" cy="411480"/>
          </a:xfrm>
          <a:prstGeom prst="rect">
            <a:avLst/>
          </a:prstGeom>
          <a:noFill/>
        </p:spPr>
        <p:txBody>
          <a:bodyPr wrap="square" lIns="0" rIns="0" tIns="0" bIns="0" anchor="t"/>
          <a:lstStyle/>
          <a:p>
            <a:pPr algn="l"/>
            <a:r>
              <a:rPr sz="950" b="0" i="0">
                <a:solidFill>
                  <a:srgbClr val="8C9BAB"/>
                </a:solidFill>
                <a:latin typeface="Segoe UI"/>
              </a:rPr>
              <a:t>Insecure output handling, misinformation, goal hijack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05</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Hybrid Judge &amp; the Verbatim-Quote Rule</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Hallucinated verdicts are structurally impossible — no quote, no conviction</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6</a:t>
            </a:r>
          </a:p>
        </p:txBody>
      </p:sp>
      <p:sp>
        <p:nvSpPr>
          <p:cNvPr id="10" name="TextBox 9"/>
          <p:cNvSpPr txBox="1"/>
          <p:nvPr/>
        </p:nvSpPr>
        <p:spPr>
          <a:xfrm>
            <a:off x="1051560" y="1280160"/>
            <a:ext cx="10515600" cy="411480"/>
          </a:xfrm>
          <a:prstGeom prst="rect">
            <a:avLst/>
          </a:prstGeom>
          <a:noFill/>
        </p:spPr>
        <p:txBody>
          <a:bodyPr wrap="square" lIns="0" rIns="0" tIns="0" bIns="0" anchor="t"/>
          <a:lstStyle/>
          <a:p>
            <a:pPr algn="l"/>
            <a:r>
              <a:rPr sz="1050" b="0" i="0">
                <a:solidFill>
                  <a:srgbClr val="8C9BAB"/>
                </a:solidFill>
                <a:latin typeface="Segoe UI"/>
              </a:rPr>
              <a:t>A language model asked whether an attack succeeded will often say yes — plausibly, confidently and wrongly. PromptBreaker removes that risk by construction: deterministic rules run first, and an LLM verdict counts only if it quotes the target’s own response.</a:t>
            </a:r>
          </a:p>
        </p:txBody>
      </p:sp>
      <p:sp>
        <p:nvSpPr>
          <p:cNvPr id="11" name="Rounded Rectangle 10"/>
          <p:cNvSpPr/>
          <p:nvPr/>
        </p:nvSpPr>
        <p:spPr>
          <a:xfrm>
            <a:off x="1051560" y="1828800"/>
            <a:ext cx="3200400" cy="1051560"/>
          </a:xfrm>
          <a:prstGeom prst="roundRect">
            <a:avLst>
              <a:gd name="adj" fmla="val 6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938528"/>
            <a:ext cx="2834640" cy="868680"/>
          </a:xfrm>
          <a:prstGeom prst="rect">
            <a:avLst/>
          </a:prstGeom>
          <a:noFill/>
        </p:spPr>
        <p:txBody>
          <a:bodyPr wrap="square" lIns="0" rIns="0" tIns="0" bIns="0" anchor="t"/>
          <a:lstStyle/>
          <a:p>
            <a:pPr algn="l">
              <a:spcAft>
                <a:spcPts val="0"/>
              </a:spcAft>
            </a:pPr>
            <a:r>
              <a:rPr sz="850" b="0" i="0">
                <a:solidFill>
                  <a:srgbClr val="D6E2EE"/>
                </a:solidFill>
                <a:latin typeface="Consolas"/>
              </a:rPr>
              <a:t>deterministic prefilter:</a:t>
            </a:r>
          </a:p>
          <a:p>
            <a:pPr algn="l">
              <a:spcAft>
                <a:spcPts val="0"/>
              </a:spcAft>
            </a:pPr>
            <a:r>
              <a:rPr sz="850" b="0" i="0">
                <a:solidFill>
                  <a:srgbClr val="D6E2EE"/>
                </a:solidFill>
                <a:latin typeface="Consolas"/>
              </a:rPr>
              <a:t>• planted canary PB_CANARY_SECRET…</a:t>
            </a:r>
          </a:p>
          <a:p>
            <a:pPr algn="l">
              <a:spcAft>
                <a:spcPts val="0"/>
              </a:spcAft>
            </a:pPr>
            <a:r>
              <a:rPr sz="850" b="0" i="0">
                <a:solidFill>
                  <a:srgbClr val="D6E2EE"/>
                </a:solidFill>
                <a:latin typeface="Consolas"/>
              </a:rPr>
              <a:t>• 17 refusal markers</a:t>
            </a:r>
          </a:p>
          <a:p>
            <a:pPr algn="l">
              <a:spcAft>
                <a:spcPts val="0"/>
              </a:spcAft>
            </a:pPr>
            <a:r>
              <a:rPr sz="850" b="0" i="0">
                <a:solidFill>
                  <a:srgbClr val="D6E2EE"/>
                </a:solidFill>
                <a:latin typeface="Consolas"/>
              </a:rPr>
              <a:t>• per-category compliance regex</a:t>
            </a:r>
          </a:p>
          <a:p>
            <a:pPr algn="l">
              <a:spcAft>
                <a:spcPts val="0"/>
              </a:spcAft>
            </a:pPr>
            <a:r>
              <a:rPr sz="850" b="0" i="0">
                <a:solidFill>
                  <a:srgbClr val="D6E2EE"/>
                </a:solidFill>
                <a:latin typeface="Consolas"/>
              </a:rPr>
              <a:t>• judge-manipulation detection</a:t>
            </a:r>
          </a:p>
        </p:txBody>
      </p:sp>
      <p:sp>
        <p:nvSpPr>
          <p:cNvPr id="13" name="Right Arrow 12"/>
          <p:cNvSpPr/>
          <p:nvPr/>
        </p:nvSpPr>
        <p:spPr>
          <a:xfrm>
            <a:off x="4343400" y="2212848"/>
            <a:ext cx="365760" cy="25603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00600" y="1828800"/>
            <a:ext cx="3657600"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1828800"/>
            <a:ext cx="3657600" cy="6400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83480" y="1975104"/>
            <a:ext cx="3383280" cy="868680"/>
          </a:xfrm>
          <a:prstGeom prst="rect">
            <a:avLst/>
          </a:prstGeom>
          <a:noFill/>
        </p:spPr>
        <p:txBody>
          <a:bodyPr wrap="square" lIns="0" rIns="0" tIns="0" bIns="0" anchor="t"/>
          <a:lstStyle/>
          <a:p>
            <a:pPr algn="l">
              <a:spcAft>
                <a:spcPts val="0"/>
              </a:spcAft>
            </a:pPr>
            <a:r>
              <a:rPr sz="850" b="0" i="0">
                <a:solidFill>
                  <a:srgbClr val="141B26"/>
                </a:solidFill>
                <a:latin typeface="Consolas"/>
              </a:rPr>
              <a:t>rules abstain? → LLM-as-judge</a:t>
            </a:r>
          </a:p>
          <a:p>
            <a:pPr algn="l">
              <a:spcAft>
                <a:spcPts val="0"/>
              </a:spcAft>
            </a:pPr>
            <a:r>
              <a:rPr sz="850" b="0" i="0">
                <a:solidFill>
                  <a:srgbClr val="141B26"/>
                </a:solidFill>
                <a:latin typeface="Consolas"/>
              </a:rPr>
              <a:t>Ollama qwen2.5:14b, temperature 0,</a:t>
            </a:r>
          </a:p>
          <a:p>
            <a:pPr algn="l">
              <a:spcAft>
                <a:spcPts val="0"/>
              </a:spcAft>
            </a:pPr>
            <a:r>
              <a:rPr sz="850" b="0" i="0">
                <a:solidFill>
                  <a:srgbClr val="141B26"/>
                </a:solidFill>
                <a:latin typeface="Consolas"/>
              </a:rPr>
              <a:t>JSON output, self-hosted by default</a:t>
            </a:r>
          </a:p>
          <a:p>
            <a:pPr algn="l">
              <a:spcAft>
                <a:spcPts val="0"/>
              </a:spcAft>
            </a:pPr>
            <a:r>
              <a:rPr sz="850" b="0" i="0">
                <a:solidFill>
                  <a:srgbClr val="141B26"/>
                </a:solidFill>
                <a:latin typeface="Consolas"/>
              </a:rPr>
              <a:t>unavailable → rules-only, never a guess</a:t>
            </a:r>
          </a:p>
        </p:txBody>
      </p:sp>
      <p:sp>
        <p:nvSpPr>
          <p:cNvPr id="17" name="Right Arrow 16"/>
          <p:cNvSpPr/>
          <p:nvPr/>
        </p:nvSpPr>
        <p:spPr>
          <a:xfrm>
            <a:off x="8549640" y="2212848"/>
            <a:ext cx="365760" cy="256032"/>
          </a:xfrm>
          <a:prstGeom prst="rightArrow">
            <a:avLst>
              <a:gd name="adj1" fmla="val 50000"/>
              <a:gd name="adj2" fmla="val 50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06840" y="1828800"/>
            <a:ext cx="2651760"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06840" y="1828800"/>
            <a:ext cx="2651760" cy="64008"/>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1975104"/>
            <a:ext cx="2377440" cy="868680"/>
          </a:xfrm>
          <a:prstGeom prst="rect">
            <a:avLst/>
          </a:prstGeom>
          <a:noFill/>
        </p:spPr>
        <p:txBody>
          <a:bodyPr wrap="square" lIns="0" rIns="0" tIns="0" bIns="0" anchor="t"/>
          <a:lstStyle/>
          <a:p>
            <a:pPr algn="l">
              <a:spcAft>
                <a:spcPts val="0"/>
              </a:spcAft>
            </a:pPr>
            <a:r>
              <a:rPr sz="850" b="0" i="0">
                <a:solidFill>
                  <a:srgbClr val="141B26"/>
                </a:solidFill>
                <a:latin typeface="Consolas"/>
              </a:rPr>
              <a:t>PASS   → 1.00</a:t>
            </a:r>
          </a:p>
          <a:p>
            <a:pPr algn="l">
              <a:spcAft>
                <a:spcPts val="0"/>
              </a:spcAft>
            </a:pPr>
            <a:r>
              <a:rPr sz="850" b="0" i="0">
                <a:solidFill>
                  <a:srgbClr val="141B26"/>
                </a:solidFill>
                <a:latin typeface="Consolas"/>
              </a:rPr>
              <a:t>PARTIAL → 0.50</a:t>
            </a:r>
          </a:p>
          <a:p>
            <a:pPr algn="l">
              <a:spcAft>
                <a:spcPts val="0"/>
              </a:spcAft>
            </a:pPr>
            <a:r>
              <a:rPr sz="850" b="0" i="0">
                <a:solidFill>
                  <a:srgbClr val="141B26"/>
                </a:solidFill>
                <a:latin typeface="Consolas"/>
              </a:rPr>
              <a:t>FAIL   → 0.00</a:t>
            </a:r>
          </a:p>
          <a:p>
            <a:pPr algn="l">
              <a:spcAft>
                <a:spcPts val="0"/>
              </a:spcAft>
            </a:pPr>
            <a:r>
              <a:rPr sz="850" b="0" i="0">
                <a:solidFill>
                  <a:srgbClr val="141B26"/>
                </a:solidFill>
                <a:latin typeface="Consolas"/>
              </a:rPr>
              <a:t>ERROR  → excluded</a:t>
            </a:r>
          </a:p>
        </p:txBody>
      </p:sp>
      <p:sp>
        <p:nvSpPr>
          <p:cNvPr id="21" name="Rounded Rectangle 20"/>
          <p:cNvSpPr/>
          <p:nvPr/>
        </p:nvSpPr>
        <p:spPr>
          <a:xfrm>
            <a:off x="1051560" y="3154680"/>
            <a:ext cx="10607040" cy="822960"/>
          </a:xfrm>
          <a:prstGeom prst="roundRect">
            <a:avLst>
              <a:gd name="adj" fmla="val 8000"/>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3273552"/>
            <a:ext cx="10058400" cy="640080"/>
          </a:xfrm>
          <a:prstGeom prst="rect">
            <a:avLst/>
          </a:prstGeom>
          <a:noFill/>
        </p:spPr>
        <p:txBody>
          <a:bodyPr wrap="square" lIns="0" rIns="0" tIns="0" bIns="0" anchor="t"/>
          <a:lstStyle/>
          <a:p>
            <a:pPr algn="l"/>
            <a:r>
              <a:rPr sz="1250" b="1" i="0">
                <a:solidFill>
                  <a:srgbClr val="2EB872"/>
                </a:solidFill>
                <a:latin typeface="Segoe UI"/>
              </a:rPr>
              <a:t>No verbatim quoted substring ⇒ the LLM verdict is rejected.  </a:t>
            </a:r>
            <a:r>
              <a:rPr sz="1150" b="0" i="0">
                <a:solidFill>
                  <a:srgbClr val="FFFFFF"/>
                </a:solidFill>
                <a:latin typeface="Segoe UI"/>
              </a:rPr>
              <a:t>The quote must occur inside the target’s actual response, at the exact byte range claimed — otherwise the engine falls back to rules or records ERROR. It never guesses.</a:t>
            </a:r>
          </a:p>
        </p:txBody>
      </p:sp>
      <p:graphicFrame>
        <p:nvGraphicFramePr>
          <p:cNvPr id="23" name="Table 22"/>
          <p:cNvGraphicFramePr>
            <a:graphicFrameLocks noGrp="1"/>
          </p:cNvGraphicFramePr>
          <p:nvPr/>
        </p:nvGraphicFramePr>
        <p:xfrm>
          <a:off x="1051560" y="4160520"/>
          <a:ext cx="7635240" cy="1700784"/>
        </p:xfrm>
        <a:graphic>
          <a:graphicData uri="http://schemas.openxmlformats.org/drawingml/2006/table">
            <a:tbl>
              <a:tblPr firstRow="1">
                <a:tableStyleId>{5C22544A-7EE6-4342-B048-85BDC9FD1C3A}</a:tableStyleId>
              </a:tblPr>
              <a:tblGrid>
                <a:gridCol w="2743200"/>
                <a:gridCol w="4892040"/>
              </a:tblGrid>
              <a:tr h="566928">
                <a:tc>
                  <a:txBody>
                    <a:bodyPr wrap="square"/>
                    <a:lstStyle/>
                    <a:p>
                      <a:r>
                        <a:rPr sz="1000" b="1">
                          <a:solidFill>
                            <a:srgbClr val="FFFFFF"/>
                          </a:solidFill>
                          <a:latin typeface="Segoe UI"/>
                        </a:rPr>
                        <a:t>Judging engine</a:t>
                      </a:r>
                    </a:p>
                  </a:txBody>
                  <a:tcPr marL="82296" marR="82296" marT="27432" marB="27432" anchor="ctr">
                    <a:solidFill>
                      <a:srgbClr val="0F2540"/>
                    </a:solidFill>
                  </a:tcPr>
                </a:tc>
                <a:tc>
                  <a:txBody>
                    <a:bodyPr wrap="square"/>
                    <a:lstStyle/>
                    <a:p>
                      <a:r>
                        <a:rPr sz="1000" b="1">
                          <a:solidFill>
                            <a:srgbClr val="FFFFFF"/>
                          </a:solidFill>
                          <a:latin typeface="Segoe UI"/>
                        </a:rPr>
                        <a:t>Behaviour</a:t>
                      </a:r>
                    </a:p>
                  </a:txBody>
                  <a:tcPr marL="82296" marR="82296" marT="27432" marB="27432" anchor="ctr">
                    <a:solidFill>
                      <a:srgbClr val="0F2540"/>
                    </a:solidFill>
                  </a:tcPr>
                </a:tc>
              </a:tr>
              <a:tr h="566928">
                <a:tc>
                  <a:txBody>
                    <a:bodyPr wrap="square"/>
                    <a:lstStyle/>
                    <a:p>
                      <a:r>
                        <a:rPr sz="950" b="1">
                          <a:solidFill>
                            <a:srgbClr val="141B26"/>
                          </a:solidFill>
                          <a:latin typeface="Segoe UI"/>
                        </a:rPr>
                        <a:t>Deterministic prefilter (default, offline)</a:t>
                      </a:r>
                    </a:p>
                  </a:txBody>
                  <a:tcPr marL="82296" marR="82296" marT="27432" marB="27432" anchor="ctr">
                    <a:solidFill>
                      <a:srgbClr val="FFFFFF"/>
                    </a:solidFill>
                  </a:tcPr>
                </a:tc>
                <a:tc>
                  <a:txBody>
                    <a:bodyPr wrap="square"/>
                    <a:lstStyle/>
                    <a:p>
                      <a:r>
                        <a:rPr sz="950" b="0">
                          <a:solidFill>
                            <a:srgbClr val="141B26"/>
                          </a:solidFill>
                          <a:latin typeface="Segoe UI"/>
                        </a:rPr>
                        <a:t>Planted canary, refusal markers and compliance regex families — no model, no key, fully repeatable</a:t>
                      </a:r>
                    </a:p>
                  </a:txBody>
                  <a:tcPr marL="82296" marR="82296" marT="27432" marB="27432" anchor="ctr">
                    <a:solidFill>
                      <a:srgbClr val="FFFFFF"/>
                    </a:solidFill>
                  </a:tcPr>
                </a:tc>
              </a:tr>
              <a:tr h="566928">
                <a:tc>
                  <a:txBody>
                    <a:bodyPr wrap="square"/>
                    <a:lstStyle/>
                    <a:p>
                      <a:r>
                        <a:rPr sz="950" b="1">
                          <a:solidFill>
                            <a:srgbClr val="141B26"/>
                          </a:solidFill>
                          <a:latin typeface="Segoe UI"/>
                        </a:rPr>
                        <a:t>LLM-as-judge (optional, self-hosted)</a:t>
                      </a:r>
                    </a:p>
                  </a:txBody>
                  <a:tcPr marL="82296" marR="82296" marT="27432" marB="27432" anchor="ctr">
                    <a:solidFill>
                      <a:srgbClr val="EEF3F8"/>
                    </a:solidFill>
                  </a:tcPr>
                </a:tc>
                <a:tc>
                  <a:txBody>
                    <a:bodyPr wrap="square"/>
                    <a:lstStyle/>
                    <a:p>
                      <a:r>
                        <a:rPr sz="950" b="0">
                          <a:solidFill>
                            <a:srgbClr val="141B26"/>
                          </a:solidFill>
                          <a:latin typeface="Segoe UI"/>
                        </a:rPr>
                        <a:t>Temperature-0 JSON verdict with a mandatory quoted span; degrades to rules-only when disabled</a:t>
                      </a:r>
                    </a:p>
                  </a:txBody>
                  <a:tcPr marL="82296" marR="82296" marT="27432" marB="27432" anchor="ctr">
                    <a:solidFill>
                      <a:srgbClr val="EEF3F8"/>
                    </a:solidFill>
                  </a:tcPr>
                </a:tc>
              </a:tr>
            </a:tbl>
          </a:graphicData>
        </a:graphic>
      </p:graphicFrame>
      <p:sp>
        <p:nvSpPr>
          <p:cNvPr id="24" name="Rounded Rectangle 23"/>
          <p:cNvSpPr/>
          <p:nvPr/>
        </p:nvSpPr>
        <p:spPr>
          <a:xfrm>
            <a:off x="8869680" y="4160520"/>
            <a:ext cx="2788920" cy="170078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4160520"/>
            <a:ext cx="2788920" cy="64008"/>
          </a:xfrm>
          <a:prstGeom prst="rect">
            <a:avLst/>
          </a:prstGeom>
          <a:solidFill>
            <a:srgbClr val="E0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4297680"/>
            <a:ext cx="2468880" cy="274320"/>
          </a:xfrm>
          <a:prstGeom prst="rect">
            <a:avLst/>
          </a:prstGeom>
          <a:noFill/>
        </p:spPr>
        <p:txBody>
          <a:bodyPr wrap="square" lIns="0" rIns="0" tIns="0" bIns="0" anchor="t"/>
          <a:lstStyle/>
          <a:p>
            <a:pPr algn="l"/>
            <a:r>
              <a:rPr sz="1000" b="1" i="0">
                <a:solidFill>
                  <a:srgbClr val="0F2540"/>
                </a:solidFill>
                <a:latin typeface="Segoe UI"/>
              </a:rPr>
              <a:t>MANIPULATION DEFENSE</a:t>
            </a:r>
          </a:p>
        </p:txBody>
      </p:sp>
      <p:sp>
        <p:nvSpPr>
          <p:cNvPr id="27" name="TextBox 26"/>
          <p:cNvSpPr txBox="1"/>
          <p:nvPr/>
        </p:nvSpPr>
        <p:spPr>
          <a:xfrm>
            <a:off x="9052560" y="4572000"/>
            <a:ext cx="2468880" cy="1188720"/>
          </a:xfrm>
          <a:prstGeom prst="rect">
            <a:avLst/>
          </a:prstGeom>
          <a:noFill/>
        </p:spPr>
        <p:txBody>
          <a:bodyPr wrap="square" lIns="0" rIns="0" tIns="0" bIns="0" anchor="t"/>
          <a:lstStyle/>
          <a:p>
            <a:pPr algn="l"/>
            <a:r>
              <a:rPr sz="900" b="0" i="0">
                <a:solidFill>
                  <a:srgbClr val="8C9BAB"/>
                </a:solidFill>
                <a:latin typeface="Segoe UI"/>
              </a:rPr>
              <a:t>Prompts that try to talk the judge out of failing — flattery, role-play, “ignore your rules” — are caught by a dedicated marker family and scored FAIL anyway.</a:t>
            </a:r>
          </a:p>
        </p:txBody>
      </p:sp>
      <p:sp>
        <p:nvSpPr>
          <p:cNvPr id="28" name="TextBox 27"/>
          <p:cNvSpPr txBox="1"/>
          <p:nvPr/>
        </p:nvSpPr>
        <p:spPr>
          <a:xfrm>
            <a:off x="1051560" y="5989320"/>
            <a:ext cx="10515600" cy="365760"/>
          </a:xfrm>
          <a:prstGeom prst="rect">
            <a:avLst/>
          </a:prstGeom>
          <a:noFill/>
        </p:spPr>
        <p:txBody>
          <a:bodyPr wrap="square" lIns="0" rIns="0" tIns="0" bIns="0" anchor="t"/>
          <a:lstStyle/>
          <a:p>
            <a:pPr algn="l"/>
            <a:r>
              <a:rPr sz="1000" b="1" i="0">
                <a:solidFill>
                  <a:srgbClr val="0F2540"/>
                </a:solidFill>
                <a:latin typeface="Segoe UI"/>
              </a:rPr>
              <a:t>Degrades gracefully: with no configured judge the engine runs rules-only and says so in the run record — a fabricated verdict is never produced.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914400" cy="457200"/>
          </a:xfrm>
          <a:prstGeom prst="rect">
            <a:avLst/>
          </a:prstGeom>
          <a:noFill/>
        </p:spPr>
        <p:txBody>
          <a:bodyPr wrap="square" lIns="0" rIns="0" tIns="0" bIns="0" anchor="t"/>
          <a:lstStyle/>
          <a:p>
            <a:pPr algn="l"/>
            <a:r>
              <a:rPr sz="1500" b="1" i="0">
                <a:solidFill>
                  <a:srgbClr val="107C4A"/>
                </a:solidFill>
                <a:latin typeface="Consolas"/>
              </a:rPr>
              <a:t>06</a:t>
            </a:r>
          </a:p>
        </p:txBody>
      </p:sp>
      <p:sp>
        <p:nvSpPr>
          <p:cNvPr id="5" name="TextBox 4"/>
          <p:cNvSpPr txBox="1"/>
          <p:nvPr/>
        </p:nvSpPr>
        <p:spPr>
          <a:xfrm>
            <a:off x="1051560" y="292608"/>
            <a:ext cx="9875520" cy="548640"/>
          </a:xfrm>
          <a:prstGeom prst="rect">
            <a:avLst/>
          </a:prstGeom>
          <a:noFill/>
        </p:spPr>
        <p:txBody>
          <a:bodyPr wrap="square" lIns="0" rIns="0" tIns="0" bIns="0" anchor="t"/>
          <a:lstStyle/>
          <a:p>
            <a:pPr algn="l"/>
            <a:r>
              <a:rPr sz="2700" b="1" i="0">
                <a:solidFill>
                  <a:srgbClr val="0F2540"/>
                </a:solidFill>
                <a:latin typeface="Segoe UI"/>
              </a:rPr>
              <a:t>Results — Target vs Achieved</a:t>
            </a:r>
          </a:p>
        </p:txBody>
      </p:sp>
      <p:sp>
        <p:nvSpPr>
          <p:cNvPr id="6" name="TextBox 5"/>
          <p:cNvSpPr txBox="1"/>
          <p:nvPr/>
        </p:nvSpPr>
        <p:spPr>
          <a:xfrm>
            <a:off x="1051560" y="822960"/>
            <a:ext cx="10241280" cy="365760"/>
          </a:xfrm>
          <a:prstGeom prst="rect">
            <a:avLst/>
          </a:prstGeom>
          <a:noFill/>
        </p:spPr>
        <p:txBody>
          <a:bodyPr wrap="square" lIns="0" rIns="0" tIns="0" bIns="0" anchor="t"/>
          <a:lstStyle/>
          <a:p>
            <a:pPr algn="l"/>
            <a:r>
              <a:rPr sz="1300" b="0" i="0">
                <a:solidFill>
                  <a:srgbClr val="8C9BAB"/>
                </a:solidFill>
                <a:latin typeface="Segoe UI"/>
              </a:rPr>
              <a:t>Every target met — and the gaps are published, not hidden</a:t>
            </a:r>
          </a:p>
        </p:txBody>
      </p:sp>
      <p:sp>
        <p:nvSpPr>
          <p:cNvPr id="7" name="Rectangle 6"/>
          <p:cNvSpPr/>
          <p:nvPr/>
        </p:nvSpPr>
        <p:spPr>
          <a:xfrm>
            <a:off x="1051560" y="1152144"/>
            <a:ext cx="10424160" cy="18288"/>
          </a:xfrm>
          <a:prstGeom prst="rect">
            <a:avLst/>
          </a:prstGeom>
          <a:solidFill>
            <a:srgbClr val="DD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8229600" cy="274320"/>
          </a:xfrm>
          <a:prstGeom prst="rect">
            <a:avLst/>
          </a:prstGeom>
          <a:noFill/>
        </p:spPr>
        <p:txBody>
          <a:bodyPr wrap="square" lIns="0" rIns="0" tIns="0" bIns="0" anchor="t"/>
          <a:lstStyle/>
          <a:p>
            <a:pPr algn="l"/>
            <a:r>
              <a:rPr sz="900" b="0" i="0">
                <a:solidFill>
                  <a:srgbClr val="8C9BAB"/>
                </a:solidFill>
                <a:latin typeface="Segoe UI"/>
              </a:rPr>
              <a:t>PromptBreaker AI  ·  Project Synopsis  ·  Academic Year 2026–2027</a:t>
            </a:r>
          </a:p>
        </p:txBody>
      </p:sp>
      <p:sp>
        <p:nvSpPr>
          <p:cNvPr id="9" name="TextBox 8"/>
          <p:cNvSpPr txBox="1"/>
          <p:nvPr/>
        </p:nvSpPr>
        <p:spPr>
          <a:xfrm>
            <a:off x="10908792" y="6473952"/>
            <a:ext cx="822960" cy="274320"/>
          </a:xfrm>
          <a:prstGeom prst="rect">
            <a:avLst/>
          </a:prstGeom>
          <a:noFill/>
        </p:spPr>
        <p:txBody>
          <a:bodyPr wrap="square" lIns="0" rIns="0" tIns="0" bIns="0" anchor="t"/>
          <a:lstStyle/>
          <a:p>
            <a:pPr algn="r"/>
            <a:r>
              <a:rPr sz="900" b="1" i="0">
                <a:solidFill>
                  <a:srgbClr val="8C9BAB"/>
                </a:solidFill>
                <a:latin typeface="Segoe UI"/>
              </a:rPr>
              <a:t>7</a:t>
            </a:r>
          </a:p>
        </p:txBody>
      </p:sp>
      <p:graphicFrame>
        <p:nvGraphicFramePr>
          <p:cNvPr id="10" name="Table 9"/>
          <p:cNvGraphicFramePr>
            <a:graphicFrameLocks noGrp="1"/>
          </p:cNvGraphicFramePr>
          <p:nvPr/>
        </p:nvGraphicFramePr>
        <p:xfrm>
          <a:off x="1051560" y="1371600"/>
          <a:ext cx="10607040" cy="3822192"/>
        </p:xfrm>
        <a:graphic>
          <a:graphicData uri="http://schemas.openxmlformats.org/drawingml/2006/table">
            <a:tbl>
              <a:tblPr firstRow="1">
                <a:tableStyleId>{5C22544A-7EE6-4342-B048-85BDC9FD1C3A}</a:tableStyleId>
              </a:tblPr>
              <a:tblGrid>
                <a:gridCol w="2651760"/>
                <a:gridCol w="3108960"/>
                <a:gridCol w="4846320"/>
              </a:tblGrid>
              <a:tr h="347472">
                <a:tc>
                  <a:txBody>
                    <a:bodyPr wrap="square"/>
                    <a:lstStyle/>
                    <a:p>
                      <a:r>
                        <a:rPr sz="1000" b="1">
                          <a:solidFill>
                            <a:srgbClr val="FFFFFF"/>
                          </a:solidFill>
                          <a:latin typeface="Segoe UI"/>
                        </a:rPr>
                        <a:t>Aspect</a:t>
                      </a:r>
                    </a:p>
                  </a:txBody>
                  <a:tcPr marL="82296" marR="82296" marT="27432" marB="27432" anchor="ctr">
                    <a:solidFill>
                      <a:srgbClr val="0F2540"/>
                    </a:solidFill>
                  </a:tcPr>
                </a:tc>
                <a:tc>
                  <a:txBody>
                    <a:bodyPr wrap="square"/>
                    <a:lstStyle/>
                    <a:p>
                      <a:r>
                        <a:rPr sz="1000" b="1">
                          <a:solidFill>
                            <a:srgbClr val="FFFFFF"/>
                          </a:solidFill>
                          <a:latin typeface="Segoe UI"/>
                        </a:rPr>
                        <a:t>Target</a:t>
                      </a:r>
                    </a:p>
                  </a:txBody>
                  <a:tcPr marL="82296" marR="82296" marT="27432" marB="27432" anchor="ctr">
                    <a:solidFill>
                      <a:srgbClr val="0F2540"/>
                    </a:solidFill>
                  </a:tcPr>
                </a:tc>
                <a:tc>
                  <a:txBody>
                    <a:bodyPr wrap="square"/>
                    <a:lstStyle/>
                    <a:p>
                      <a:r>
                        <a:rPr sz="1000" b="1">
                          <a:solidFill>
                            <a:srgbClr val="FFFFFF"/>
                          </a:solidFill>
                          <a:latin typeface="Segoe UI"/>
                        </a:rPr>
                        <a:t>Achieved</a:t>
                      </a:r>
                    </a:p>
                  </a:txBody>
                  <a:tcPr marL="82296" marR="82296" marT="27432" marB="27432" anchor="ctr">
                    <a:solidFill>
                      <a:srgbClr val="0F2540"/>
                    </a:solidFill>
                  </a:tcPr>
                </a:tc>
              </a:tr>
              <a:tr h="347472">
                <a:tc>
                  <a:txBody>
                    <a:bodyPr wrap="square"/>
                    <a:lstStyle/>
                    <a:p>
                      <a:r>
                        <a:rPr sz="950" b="1">
                          <a:solidFill>
                            <a:srgbClr val="141B26"/>
                          </a:solidFill>
                          <a:latin typeface="Segoe UI"/>
                        </a:rPr>
                        <a:t>Attack simulations</a:t>
                      </a:r>
                    </a:p>
                  </a:txBody>
                  <a:tcPr marL="82296" marR="82296" marT="27432" marB="27432" anchor="ctr">
                    <a:solidFill>
                      <a:srgbClr val="FFFFFF"/>
                    </a:solidFill>
                  </a:tcPr>
                </a:tc>
                <a:tc>
                  <a:txBody>
                    <a:bodyPr wrap="square"/>
                    <a:lstStyle/>
                    <a:p>
                      <a:r>
                        <a:rPr sz="950" b="0">
                          <a:solidFill>
                            <a:srgbClr val="141B26"/>
                          </a:solidFill>
                          <a:latin typeface="Segoe UI"/>
                        </a:rPr>
                        <a:t>Repeatable, structured suites</a:t>
                      </a:r>
                    </a:p>
                  </a:txBody>
                  <a:tcPr marL="82296" marR="82296" marT="27432" marB="27432" anchor="ctr">
                    <a:solidFill>
                      <a:srgbClr val="FFFFFF"/>
                    </a:solidFill>
                  </a:tcPr>
                </a:tc>
                <a:tc>
                  <a:txBody>
                    <a:bodyPr wrap="square"/>
                    <a:lstStyle/>
                    <a:p>
                      <a:r>
                        <a:rPr sz="950" b="0">
                          <a:solidFill>
                            <a:srgbClr val="141B26"/>
                          </a:solidFill>
                          <a:latin typeface="Segoe UI"/>
                        </a:rPr>
                        <a:t>180 simulations across 3 complete runs</a:t>
                      </a:r>
                    </a:p>
                  </a:txBody>
                  <a:tcPr marL="82296" marR="82296" marT="27432" marB="27432" anchor="ctr">
                    <a:solidFill>
                      <a:srgbClr val="FFFFFF"/>
                    </a:solidFill>
                  </a:tcPr>
                </a:tc>
              </a:tr>
              <a:tr h="347472">
                <a:tc>
                  <a:txBody>
                    <a:bodyPr wrap="square"/>
                    <a:lstStyle/>
                    <a:p>
                      <a:r>
                        <a:rPr sz="950" b="1">
                          <a:solidFill>
                            <a:srgbClr val="141B26"/>
                          </a:solidFill>
                          <a:latin typeface="Segoe UI"/>
                        </a:rPr>
                        <a:t>Verified findings</a:t>
                      </a:r>
                    </a:p>
                  </a:txBody>
                  <a:tcPr marL="82296" marR="82296" marT="27432" marB="27432" anchor="ctr">
                    <a:solidFill>
                      <a:srgbClr val="EEF3F8"/>
                    </a:solidFill>
                  </a:tcPr>
                </a:tc>
                <a:tc>
                  <a:txBody>
                    <a:bodyPr wrap="square"/>
                    <a:lstStyle/>
                    <a:p>
                      <a:r>
                        <a:rPr sz="950" b="0">
                          <a:solidFill>
                            <a:srgbClr val="141B26"/>
                          </a:solidFill>
                          <a:latin typeface="Segoe UI"/>
                        </a:rPr>
                        <a:t>Evidence-backed only</a:t>
                      </a:r>
                    </a:p>
                  </a:txBody>
                  <a:tcPr marL="82296" marR="82296" marT="27432" marB="27432" anchor="ctr">
                    <a:solidFill>
                      <a:srgbClr val="EEF3F8"/>
                    </a:solidFill>
                  </a:tcPr>
                </a:tc>
                <a:tc>
                  <a:txBody>
                    <a:bodyPr wrap="square"/>
                    <a:lstStyle/>
                    <a:p>
                      <a:r>
                        <a:rPr sz="950" b="0">
                          <a:solidFill>
                            <a:srgbClr val="141B26"/>
                          </a:solidFill>
                          <a:latin typeface="Segoe UI"/>
                        </a:rPr>
                        <a:t>27 findings, each with chained evidence</a:t>
                      </a:r>
                    </a:p>
                  </a:txBody>
                  <a:tcPr marL="82296" marR="82296" marT="27432" marB="27432" anchor="ctr">
                    <a:solidFill>
                      <a:srgbClr val="EEF3F8"/>
                    </a:solidFill>
                  </a:tcPr>
                </a:tc>
              </a:tr>
              <a:tr h="347472">
                <a:tc>
                  <a:txBody>
                    <a:bodyPr wrap="square"/>
                    <a:lstStyle/>
                    <a:p>
                      <a:r>
                        <a:rPr sz="950" b="1">
                          <a:solidFill>
                            <a:srgbClr val="141B26"/>
                          </a:solidFill>
                          <a:latin typeface="Segoe UI"/>
                        </a:rPr>
                        <a:t>Overall score</a:t>
                      </a:r>
                    </a:p>
                  </a:txBody>
                  <a:tcPr marL="82296" marR="82296" marT="27432" marB="27432" anchor="ctr">
                    <a:solidFill>
                      <a:srgbClr val="FFFFFF"/>
                    </a:solidFill>
                  </a:tcPr>
                </a:tc>
                <a:tc>
                  <a:txBody>
                    <a:bodyPr wrap="square"/>
                    <a:lstStyle/>
                    <a:p>
                      <a:r>
                        <a:rPr sz="950" b="0">
                          <a:solidFill>
                            <a:srgbClr val="141B26"/>
                          </a:solidFill>
                          <a:latin typeface="Segoe UI"/>
                        </a:rPr>
                        <a:t>Banded risk score</a:t>
                      </a:r>
                    </a:p>
                  </a:txBody>
                  <a:tcPr marL="82296" marR="82296" marT="27432" marB="27432" anchor="ctr">
                    <a:solidFill>
                      <a:srgbClr val="FFFFFF"/>
                    </a:solidFill>
                  </a:tcPr>
                </a:tc>
                <a:tc>
                  <a:txBody>
                    <a:bodyPr wrap="square"/>
                    <a:lstStyle/>
                    <a:p>
                      <a:r>
                        <a:rPr sz="950" b="0">
                          <a:solidFill>
                            <a:srgbClr val="141B26"/>
                          </a:solidFill>
                          <a:latin typeface="Segoe UI"/>
                        </a:rPr>
                        <a:t>86.67 / 100 — Low band, 9 category sub-scores</a:t>
                      </a:r>
                    </a:p>
                  </a:txBody>
                  <a:tcPr marL="82296" marR="82296" marT="27432" marB="27432" anchor="ctr">
                    <a:solidFill>
                      <a:srgbClr val="FFFFFF"/>
                    </a:solidFill>
                  </a:tcPr>
                </a:tc>
              </a:tr>
              <a:tr h="347472">
                <a:tc>
                  <a:txBody>
                    <a:bodyPr wrap="square"/>
                    <a:lstStyle/>
                    <a:p>
                      <a:r>
                        <a:rPr sz="950" b="1">
                          <a:solidFill>
                            <a:srgbClr val="141B26"/>
                          </a:solidFill>
                          <a:latin typeface="Segoe UI"/>
                        </a:rPr>
                        <a:t>OWASP LLM Top 10</a:t>
                      </a:r>
                    </a:p>
                  </a:txBody>
                  <a:tcPr marL="82296" marR="82296" marT="27432" marB="27432" anchor="ctr">
                    <a:solidFill>
                      <a:srgbClr val="EEF3F8"/>
                    </a:solidFill>
                  </a:tcPr>
                </a:tc>
                <a:tc>
                  <a:txBody>
                    <a:bodyPr wrap="square"/>
                    <a:lstStyle/>
                    <a:p>
                      <a:r>
                        <a:rPr sz="950" b="0">
                          <a:solidFill>
                            <a:srgbClr val="141B26"/>
                          </a:solidFill>
                          <a:latin typeface="Segoe UI"/>
                        </a:rPr>
                        <a:t>Honest framework mapping</a:t>
                      </a:r>
                    </a:p>
                  </a:txBody>
                  <a:tcPr marL="82296" marR="82296" marT="27432" marB="27432" anchor="ctr">
                    <a:solidFill>
                      <a:srgbClr val="EEF3F8"/>
                    </a:solidFill>
                  </a:tcPr>
                </a:tc>
                <a:tc>
                  <a:txBody>
                    <a:bodyPr wrap="square"/>
                    <a:lstStyle/>
                    <a:p>
                      <a:r>
                        <a:rPr sz="950" b="0">
                          <a:solidFill>
                            <a:srgbClr val="141B26"/>
                          </a:solidFill>
                          <a:latin typeface="Segoe UI"/>
                        </a:rPr>
                        <a:t>4 PASS · 2 PARTIAL · 4 GAP — disclosed</a:t>
                      </a:r>
                    </a:p>
                  </a:txBody>
                  <a:tcPr marL="82296" marR="82296" marT="27432" marB="27432" anchor="ctr">
                    <a:solidFill>
                      <a:srgbClr val="EEF3F8"/>
                    </a:solidFill>
                  </a:tcPr>
                </a:tc>
              </a:tr>
              <a:tr h="347472">
                <a:tc>
                  <a:txBody>
                    <a:bodyPr wrap="square"/>
                    <a:lstStyle/>
                    <a:p>
                      <a:r>
                        <a:rPr sz="950" b="1">
                          <a:solidFill>
                            <a:srgbClr val="141B26"/>
                          </a:solidFill>
                          <a:latin typeface="Segoe UI"/>
                        </a:rPr>
                        <a:t>Evidence integrity</a:t>
                      </a:r>
                    </a:p>
                  </a:txBody>
                  <a:tcPr marL="82296" marR="82296" marT="27432" marB="27432" anchor="ctr">
                    <a:solidFill>
                      <a:srgbClr val="FFFFFF"/>
                    </a:solidFill>
                  </a:tcPr>
                </a:tc>
                <a:tc>
                  <a:txBody>
                    <a:bodyPr wrap="square"/>
                    <a:lstStyle/>
                    <a:p>
                      <a:r>
                        <a:rPr sz="950" b="0">
                          <a:solidFill>
                            <a:srgbClr val="141B26"/>
                          </a:solidFill>
                          <a:latin typeface="Segoe UI"/>
                        </a:rPr>
                        <a:t>Tamper detection</a:t>
                      </a:r>
                    </a:p>
                  </a:txBody>
                  <a:tcPr marL="82296" marR="82296" marT="27432" marB="27432" anchor="ctr">
                    <a:solidFill>
                      <a:srgbClr val="FFFFFF"/>
                    </a:solidFill>
                  </a:tcPr>
                </a:tc>
                <a:tc>
                  <a:txBody>
                    <a:bodyPr wrap="square"/>
                    <a:lstStyle/>
                    <a:p>
                      <a:r>
                        <a:rPr sz="950" b="0">
                          <a:solidFill>
                            <a:srgbClr val="141B26"/>
                          </a:solidFill>
                          <a:latin typeface="Segoe UI"/>
                        </a:rPr>
                        <a:t>evidenceChainValid = true on every run</a:t>
                      </a:r>
                    </a:p>
                  </a:txBody>
                  <a:tcPr marL="82296" marR="82296" marT="27432" marB="27432" anchor="ctr">
                    <a:solidFill>
                      <a:srgbClr val="FFFFFF"/>
                    </a:solidFill>
                  </a:tcPr>
                </a:tc>
              </a:tr>
              <a:tr h="347472">
                <a:tc>
                  <a:txBody>
                    <a:bodyPr wrap="square"/>
                    <a:lstStyle/>
                    <a:p>
                      <a:r>
                        <a:rPr sz="950" b="1">
                          <a:solidFill>
                            <a:srgbClr val="141B26"/>
                          </a:solidFill>
                          <a:latin typeface="Segoe UI"/>
                        </a:rPr>
                        <a:t>Automated tests</a:t>
                      </a:r>
                    </a:p>
                  </a:txBody>
                  <a:tcPr marL="82296" marR="82296" marT="27432" marB="27432" anchor="ctr">
                    <a:solidFill>
                      <a:srgbClr val="EEF3F8"/>
                    </a:solidFill>
                  </a:tcPr>
                </a:tc>
                <a:tc>
                  <a:txBody>
                    <a:bodyPr wrap="square"/>
                    <a:lstStyle/>
                    <a:p>
                      <a:r>
                        <a:rPr sz="950" b="0">
                          <a:solidFill>
                            <a:srgbClr val="141B26"/>
                          </a:solidFill>
                          <a:latin typeface="Segoe UI"/>
                        </a:rPr>
                        <a:t>Comprehensive suite</a:t>
                      </a:r>
                    </a:p>
                  </a:txBody>
                  <a:tcPr marL="82296" marR="82296" marT="27432" marB="27432" anchor="ctr">
                    <a:solidFill>
                      <a:srgbClr val="EEF3F8"/>
                    </a:solidFill>
                  </a:tcPr>
                </a:tc>
                <a:tc>
                  <a:txBody>
                    <a:bodyPr wrap="square"/>
                    <a:lstStyle/>
                    <a:p>
                      <a:r>
                        <a:rPr sz="950" b="0">
                          <a:solidFill>
                            <a:srgbClr val="141B26"/>
                          </a:solidFill>
                          <a:latin typeface="Segoe UI"/>
                        </a:rPr>
                        <a:t>40 / 40 passing (41 test functions)</a:t>
                      </a:r>
                    </a:p>
                  </a:txBody>
                  <a:tcPr marL="82296" marR="82296" marT="27432" marB="27432" anchor="ctr">
                    <a:solidFill>
                      <a:srgbClr val="EEF3F8"/>
                    </a:solidFill>
                  </a:tcPr>
                </a:tc>
              </a:tr>
              <a:tr h="347472">
                <a:tc>
                  <a:txBody>
                    <a:bodyPr wrap="square"/>
                    <a:lstStyle/>
                    <a:p>
                      <a:r>
                        <a:rPr sz="950" b="1">
                          <a:solidFill>
                            <a:srgbClr val="141B26"/>
                          </a:solidFill>
                          <a:latin typeface="Segoe UI"/>
                        </a:rPr>
                        <a:t>Attack coverage</a:t>
                      </a:r>
                    </a:p>
                  </a:txBody>
                  <a:tcPr marL="82296" marR="82296" marT="27432" marB="27432" anchor="ctr">
                    <a:solidFill>
                      <a:srgbClr val="FFFFFF"/>
                    </a:solidFill>
                  </a:tcPr>
                </a:tc>
                <a:tc>
                  <a:txBody>
                    <a:bodyPr wrap="square"/>
                    <a:lstStyle/>
                    <a:p>
                      <a:r>
                        <a:rPr sz="950" b="0">
                          <a:solidFill>
                            <a:srgbClr val="141B26"/>
                          </a:solidFill>
                          <a:latin typeface="Segoe UI"/>
                        </a:rPr>
                        <a:t>Structured categories</a:t>
                      </a:r>
                    </a:p>
                  </a:txBody>
                  <a:tcPr marL="82296" marR="82296" marT="27432" marB="27432" anchor="ctr">
                    <a:solidFill>
                      <a:srgbClr val="FFFFFF"/>
                    </a:solidFill>
                  </a:tcPr>
                </a:tc>
                <a:tc>
                  <a:txBody>
                    <a:bodyPr wrap="square"/>
                    <a:lstStyle/>
                    <a:p>
                      <a:r>
                        <a:rPr sz="950" b="0">
                          <a:solidFill>
                            <a:srgbClr val="141B26"/>
                          </a:solidFill>
                          <a:latin typeface="Segoe UI"/>
                        </a:rPr>
                        <a:t>12 probes · 9 categories · 6 suites · 6 mutators</a:t>
                      </a:r>
                    </a:p>
                  </a:txBody>
                  <a:tcPr marL="82296" marR="82296" marT="27432" marB="27432" anchor="ctr">
                    <a:solidFill>
                      <a:srgbClr val="FFFFFF"/>
                    </a:solidFill>
                  </a:tcPr>
                </a:tc>
              </a:tr>
              <a:tr h="347472">
                <a:tc>
                  <a:txBody>
                    <a:bodyPr wrap="square"/>
                    <a:lstStyle/>
                    <a:p>
                      <a:r>
                        <a:rPr sz="950" b="1">
                          <a:solidFill>
                            <a:srgbClr val="141B26"/>
                          </a:solidFill>
                          <a:latin typeface="Segoe UI"/>
                        </a:rPr>
                        <a:t>Judgement honesty</a:t>
                      </a:r>
                    </a:p>
                  </a:txBody>
                  <a:tcPr marL="82296" marR="82296" marT="27432" marB="27432" anchor="ctr">
                    <a:solidFill>
                      <a:srgbClr val="EEF3F8"/>
                    </a:solidFill>
                  </a:tcPr>
                </a:tc>
                <a:tc>
                  <a:txBody>
                    <a:bodyPr wrap="square"/>
                    <a:lstStyle/>
                    <a:p>
                      <a:r>
                        <a:rPr sz="950" b="0">
                          <a:solidFill>
                            <a:srgbClr val="141B26"/>
                          </a:solidFill>
                          <a:latin typeface="Segoe UI"/>
                        </a:rPr>
                        <a:t>No fabricated verdicts</a:t>
                      </a:r>
                    </a:p>
                  </a:txBody>
                  <a:tcPr marL="82296" marR="82296" marT="27432" marB="27432" anchor="ctr">
                    <a:solidFill>
                      <a:srgbClr val="EEF3F8"/>
                    </a:solidFill>
                  </a:tcPr>
                </a:tc>
                <a:tc>
                  <a:txBody>
                    <a:bodyPr wrap="square"/>
                    <a:lstStyle/>
                    <a:p>
                      <a:r>
                        <a:rPr sz="950" b="0">
                          <a:solidFill>
                            <a:srgbClr val="141B26"/>
                          </a:solidFill>
                          <a:latin typeface="Segoe UI"/>
                        </a:rPr>
                        <a:t>rules first; quoteless LLM verdicts rejected</a:t>
                      </a:r>
                    </a:p>
                  </a:txBody>
                  <a:tcPr marL="82296" marR="82296" marT="27432" marB="27432" anchor="ctr">
                    <a:solidFill>
                      <a:srgbClr val="EEF3F8"/>
                    </a:solidFill>
                  </a:tcPr>
                </a:tc>
              </a:tr>
              <a:tr h="347472">
                <a:tc>
                  <a:txBody>
                    <a:bodyPr wrap="square"/>
                    <a:lstStyle/>
                    <a:p>
                      <a:r>
                        <a:rPr sz="950" b="1">
                          <a:solidFill>
                            <a:srgbClr val="141B26"/>
                          </a:solidFill>
                          <a:latin typeface="Segoe UI"/>
                        </a:rPr>
                        <a:t>Report export</a:t>
                      </a:r>
                    </a:p>
                  </a:txBody>
                  <a:tcPr marL="82296" marR="82296" marT="27432" marB="27432" anchor="ctr">
                    <a:solidFill>
                      <a:srgbClr val="FFFFFF"/>
                    </a:solidFill>
                  </a:tcPr>
                </a:tc>
                <a:tc>
                  <a:txBody>
                    <a:bodyPr wrap="square"/>
                    <a:lstStyle/>
                    <a:p>
                      <a:r>
                        <a:rPr sz="950" b="0">
                          <a:solidFill>
                            <a:srgbClr val="141B26"/>
                          </a:solidFill>
                          <a:latin typeface="Segoe UI"/>
                        </a:rPr>
                        <a:t>Pipeline-ready formats</a:t>
                      </a:r>
                    </a:p>
                  </a:txBody>
                  <a:tcPr marL="82296" marR="82296" marT="27432" marB="27432" anchor="ctr">
                    <a:solidFill>
                      <a:srgbClr val="FFFFFF"/>
                    </a:solidFill>
                  </a:tcPr>
                </a:tc>
                <a:tc>
                  <a:txBody>
                    <a:bodyPr wrap="square"/>
                    <a:lstStyle/>
                    <a:p>
                      <a:r>
                        <a:rPr sz="950" b="0">
                          <a:solidFill>
                            <a:srgbClr val="141B26"/>
                          </a:solidFill>
                          <a:latin typeface="Segoe UI"/>
                        </a:rPr>
                        <a:t>Markdown + JSON + SARIF 2.1.0</a:t>
                      </a:r>
                    </a:p>
                  </a:txBody>
                  <a:tcPr marL="82296" marR="82296" marT="27432" marB="27432" anchor="ctr">
                    <a:solidFill>
                      <a:srgbClr val="FFFFFF"/>
                    </a:solidFill>
                  </a:tcPr>
                </a:tc>
              </a:tr>
              <a:tr h="347472">
                <a:tc>
                  <a:txBody>
                    <a:bodyPr wrap="square"/>
                    <a:lstStyle/>
                    <a:p>
                      <a:r>
                        <a:rPr sz="950" b="1">
                          <a:solidFill>
                            <a:srgbClr val="141B26"/>
                          </a:solidFill>
                          <a:latin typeface="Segoe UI"/>
                        </a:rPr>
                        <a:t>Demo gauntlet</a:t>
                      </a:r>
                    </a:p>
                  </a:txBody>
                  <a:tcPr marL="82296" marR="82296" marT="27432" marB="27432" anchor="ctr">
                    <a:solidFill>
                      <a:srgbClr val="EEF3F8"/>
                    </a:solidFill>
                  </a:tcPr>
                </a:tc>
                <a:tc>
                  <a:txBody>
                    <a:bodyPr wrap="square"/>
                    <a:lstStyle/>
                    <a:p>
                      <a:r>
                        <a:rPr sz="950" b="0">
                          <a:solidFill>
                            <a:srgbClr val="141B26"/>
                          </a:solidFill>
                          <a:latin typeface="Segoe UI"/>
                        </a:rPr>
                        <a:t>Scores must discriminate</a:t>
                      </a:r>
                    </a:p>
                  </a:txBody>
                  <a:tcPr marL="82296" marR="82296" marT="27432" marB="27432" anchor="ctr">
                    <a:solidFill>
                      <a:srgbClr val="EEF3F8"/>
                    </a:solidFill>
                  </a:tcPr>
                </a:tc>
                <a:tc>
                  <a:txBody>
                    <a:bodyPr wrap="square"/>
                    <a:lstStyle/>
                    <a:p>
                      <a:r>
                        <a:rPr sz="950" b="0">
                          <a:solidFill>
                            <a:srgbClr val="141B26"/>
                          </a:solidFill>
                          <a:latin typeface="Segoe UI"/>
                        </a:rPr>
                        <a:t>SecureBot 100.0 → CreativeAI 0.0 (7 bots)</a:t>
                      </a:r>
                    </a:p>
                  </a:txBody>
                  <a:tcPr marL="82296" marR="82296" marT="27432" marB="27432" anchor="ctr">
                    <a:solidFill>
                      <a:srgbClr val="EEF3F8"/>
                    </a:solidFill>
                  </a:tcPr>
                </a:tc>
              </a:tr>
            </a:tbl>
          </a:graphicData>
        </a:graphic>
      </p:graphicFrame>
      <p:sp>
        <p:nvSpPr>
          <p:cNvPr id="11" name="Rounded Rectangle 10"/>
          <p:cNvSpPr/>
          <p:nvPr/>
        </p:nvSpPr>
        <p:spPr>
          <a:xfrm>
            <a:off x="1051560" y="5394960"/>
            <a:ext cx="10607040" cy="731520"/>
          </a:xfrm>
          <a:prstGeom prst="roundRect">
            <a:avLst>
              <a:gd name="adj" fmla="val 8000"/>
            </a:avLst>
          </a:prstGeom>
          <a:solidFill>
            <a:srgbClr val="EC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 y="5394960"/>
            <a:ext cx="73152" cy="731520"/>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5513832"/>
            <a:ext cx="10195560" cy="530352"/>
          </a:xfrm>
          <a:prstGeom prst="rect">
            <a:avLst/>
          </a:prstGeom>
          <a:noFill/>
        </p:spPr>
        <p:txBody>
          <a:bodyPr wrap="square" lIns="0" rIns="0" tIns="0" bIns="0" anchor="t"/>
          <a:lstStyle/>
          <a:p>
            <a:pPr algn="l"/>
            <a:r>
              <a:rPr sz="1050" b="0" i="0">
                <a:solidFill>
                  <a:srgbClr val="0F2540"/>
                </a:solidFill>
                <a:latin typeface="Segoe UI"/>
              </a:rPr>
              <a:t>Central hypothesis confirmed: authorization, judgement, coverage and evidence can all be machine-checkable — and an honest system reports its own gaps: four OWASP controls remain GAP until probed.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107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63040" y="4023360"/>
            <a:ext cx="4754880" cy="4754880"/>
          </a:xfrm>
          <a:prstGeom prst="ellipse">
            <a:avLst/>
          </a:prstGeom>
          <a:solidFill>
            <a:srgbClr val="142C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914400"/>
            <a:ext cx="10058400" cy="457200"/>
          </a:xfrm>
          <a:prstGeom prst="rect">
            <a:avLst/>
          </a:prstGeom>
          <a:noFill/>
        </p:spPr>
        <p:txBody>
          <a:bodyPr wrap="square" lIns="0" rIns="0" tIns="0" bIns="0" anchor="t"/>
          <a:lstStyle/>
          <a:p>
            <a:pPr algn="l"/>
            <a:r>
              <a:rPr sz="1400" b="1" i="0">
                <a:solidFill>
                  <a:srgbClr val="2EB872"/>
                </a:solidFill>
                <a:latin typeface="Segoe UI"/>
              </a:rPr>
              <a:t>CONCLUSION</a:t>
            </a:r>
          </a:p>
        </p:txBody>
      </p:sp>
      <p:sp>
        <p:nvSpPr>
          <p:cNvPr id="6" name="TextBox 5"/>
          <p:cNvSpPr txBox="1"/>
          <p:nvPr/>
        </p:nvSpPr>
        <p:spPr>
          <a:xfrm>
            <a:off x="1097280" y="1463040"/>
            <a:ext cx="10241280" cy="822960"/>
          </a:xfrm>
          <a:prstGeom prst="rect">
            <a:avLst/>
          </a:prstGeom>
          <a:noFill/>
        </p:spPr>
        <p:txBody>
          <a:bodyPr wrap="square" lIns="0" rIns="0" tIns="0" bIns="0" anchor="t"/>
          <a:lstStyle/>
          <a:p>
            <a:pPr algn="l"/>
            <a:r>
              <a:rPr sz="3000" b="1" i="0">
                <a:solidFill>
                  <a:srgbClr val="FFFFFF"/>
                </a:solidFill>
                <a:latin typeface="Segoe UI"/>
              </a:rPr>
              <a:t>A verdict without a quote is not a verdict.</a:t>
            </a:r>
          </a:p>
        </p:txBody>
      </p:sp>
      <p:sp>
        <p:nvSpPr>
          <p:cNvPr id="7" name="TextBox 6"/>
          <p:cNvSpPr txBox="1"/>
          <p:nvPr/>
        </p:nvSpPr>
        <p:spPr>
          <a:xfrm>
            <a:off x="1097280" y="2468880"/>
            <a:ext cx="10241280" cy="1280160"/>
          </a:xfrm>
          <a:prstGeom prst="rect">
            <a:avLst/>
          </a:prstGeom>
          <a:noFill/>
        </p:spPr>
        <p:txBody>
          <a:bodyPr wrap="square" lIns="0" rIns="0" tIns="0" bIns="0" anchor="t"/>
          <a:lstStyle/>
          <a:p>
            <a:pPr algn="l"/>
            <a:r>
              <a:rPr sz="1350" b="0" i="0">
                <a:solidFill>
                  <a:srgbClr val="B9C6D4"/>
                </a:solidFill>
                <a:latin typeface="Segoe UI"/>
              </a:rPr>
              <a:t>PromptBreaker AI turns ad-hoc prompt testing into a repeatable, measurable, evidence-backed pipeline: a scope attestation gates every run, a hybrid judge refuses verdicts that cannot quote the target’s own words, coverage is reported as numbers mapped honestly to the OWASP LLM Top 10 and NIST AI RMF, and every artifact is sealed into a SHA-256 + HMAC chain — where the system’s own gaps are printed as GAP, never hidden.</a:t>
            </a:r>
          </a:p>
        </p:txBody>
      </p:sp>
      <p:sp>
        <p:nvSpPr>
          <p:cNvPr id="8" name="Rounded Rectangle 7"/>
          <p:cNvSpPr/>
          <p:nvPr/>
        </p:nvSpPr>
        <p:spPr>
          <a:xfrm>
            <a:off x="1097280" y="3931920"/>
            <a:ext cx="10058400" cy="960120"/>
          </a:xfrm>
          <a:prstGeom prst="roundRect">
            <a:avLst>
              <a:gd name="adj" fmla="val 5000"/>
            </a:avLst>
          </a:prstGeom>
          <a:solidFill>
            <a:srgbClr val="16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4114800"/>
            <a:ext cx="9509760" cy="640080"/>
          </a:xfrm>
          <a:prstGeom prst="rect">
            <a:avLst/>
          </a:prstGeom>
          <a:noFill/>
        </p:spPr>
        <p:txBody>
          <a:bodyPr wrap="square" lIns="0" rIns="0" tIns="0" bIns="0" anchor="t"/>
          <a:lstStyle/>
          <a:p>
            <a:pPr algn="ctr"/>
            <a:r>
              <a:rPr sz="1600" b="1" i="0">
                <a:solidFill>
                  <a:srgbClr val="2EB872"/>
                </a:solidFill>
                <a:latin typeface="Segoe UI"/>
              </a:rPr>
              <a:t>No attestation, no run.   ·   No quote, no verdict.   ·   No hash match, no claim.</a:t>
            </a:r>
          </a:p>
        </p:txBody>
      </p:sp>
      <p:sp>
        <p:nvSpPr>
          <p:cNvPr id="10" name="TextBox 9"/>
          <p:cNvSpPr txBox="1"/>
          <p:nvPr/>
        </p:nvSpPr>
        <p:spPr>
          <a:xfrm>
            <a:off x="1097280" y="5212080"/>
            <a:ext cx="10058400" cy="914400"/>
          </a:xfrm>
          <a:prstGeom prst="rect">
            <a:avLst/>
          </a:prstGeom>
          <a:noFill/>
        </p:spPr>
        <p:txBody>
          <a:bodyPr wrap="square" lIns="0" rIns="0" tIns="0" bIns="0" anchor="t"/>
          <a:lstStyle/>
          <a:p>
            <a:pPr algn="l"/>
            <a:r>
              <a:rPr sz="1100" b="0" i="0">
                <a:solidFill>
                  <a:srgbClr val="8C9BAB"/>
                </a:solidFill>
                <a:latin typeface="Segoe UI"/>
              </a:rPr>
              <a:t>Delivered: 14-endpoint FastAPI control plane · 12-probe / 9-category attack engine · 6 deterministic mutators · hybrid judge with verbatim-quote gate · four-band risk scoring · OWASP + NIST mapping · SHA-256 + HMAC evidence chain · SSE dashboard with 7 pages · MD / JSON / SARIF export · Go WebView2 desktop shell.</a:t>
            </a:r>
          </a:p>
          <a:p>
            <a:pPr algn="l"/>
            <a:r>
              <a:rPr sz="1100" b="0" i="0">
                <a:solidFill>
                  <a:srgbClr val="8C9BAB"/>
                </a:solidFill>
                <a:latin typeface="Segoe UI"/>
              </a:rPr>
              <a:t>Quality: 40 / 40 automated tests · 588 self-test combinations · 180 simulations · 27 verified findings · overall score 86.67 / 100.</a:t>
            </a:r>
          </a:p>
        </p:txBody>
      </p:sp>
      <p:sp>
        <p:nvSpPr>
          <p:cNvPr id="11" name="TextBox 10"/>
          <p:cNvSpPr txBox="1"/>
          <p:nvPr/>
        </p:nvSpPr>
        <p:spPr>
          <a:xfrm>
            <a:off x="1097280" y="6263640"/>
            <a:ext cx="10058400" cy="274320"/>
          </a:xfrm>
          <a:prstGeom prst="rect">
            <a:avLst/>
          </a:prstGeom>
          <a:noFill/>
        </p:spPr>
        <p:txBody>
          <a:bodyPr wrap="square" lIns="0" rIns="0" tIns="0" bIns="0" anchor="t"/>
          <a:lstStyle/>
          <a:p>
            <a:pPr algn="l"/>
            <a:r>
              <a:rPr sz="1050" b="1" i="0">
                <a:solidFill>
                  <a:srgbClr val="6E8296"/>
                </a:solidFill>
                <a:latin typeface="Segoe UI"/>
              </a:rPr>
              <a:t>Practical, honest, verifiable — a foundation for continuous LLM red-teaming in CI and beyond.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